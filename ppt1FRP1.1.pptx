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7559675" cy="10691800"/>
  <p:embeddedFontLst>
    <p:embeddedFont>
      <p:font typeface="Arial Narrow"/>
      <p:regular r:id="rId19"/>
      <p:bold r:id="rId20"/>
      <p:italic r:id="rId21"/>
      <p:boldItalic r:id="rId22"/>
    </p:embeddedFont>
    <p:embeddedFont>
      <p:font typeface="Bebas Neue"/>
      <p:regular r:id="rId23"/>
    </p:embeddedFont>
    <p:embeddedFont>
      <p:font typeface="Quicksand"/>
      <p:regular r:id="rId24"/>
      <p:bold r:id="rId25"/>
    </p:embeddedFont>
    <p:embeddedFont>
      <p:font typeface="Gill San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.fntdata"/><Relationship Id="rId22" Type="http://schemas.openxmlformats.org/officeDocument/2006/relationships/font" Target="fonts/ArialNarrow-boldItalic.fntdata"/><Relationship Id="rId21" Type="http://schemas.openxmlformats.org/officeDocument/2006/relationships/font" Target="fonts/ArialNarrow-italic.fntdata"/><Relationship Id="rId24" Type="http://schemas.openxmlformats.org/officeDocument/2006/relationships/font" Target="fonts/Quicksand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illSans-regular.fntdata"/><Relationship Id="rId25" Type="http://schemas.openxmlformats.org/officeDocument/2006/relationships/font" Target="fonts/Quicksand-bold.fntdata"/><Relationship Id="rId27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rialNarrow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048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685800" y="1028700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685800" y="262890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38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0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2313" y="1771650"/>
            <a:ext cx="7772400" cy="16502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0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722313" y="3470149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04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8A44E"/>
              </a:solidFill>
            </a:endParaRPr>
          </a:p>
        </p:txBody>
      </p:sp>
      <p:cxnSp>
        <p:nvCxnSpPr>
          <p:cNvPr id="43" name="Google Shape;43;p6"/>
          <p:cNvCxnSpPr/>
          <p:nvPr/>
        </p:nvCxnSpPr>
        <p:spPr>
          <a:xfrm>
            <a:off x="731520" y="3449574"/>
            <a:ext cx="7848600" cy="1191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8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1320" lvl="0" marL="457200" algn="l">
              <a:spcBef>
                <a:spcPts val="640"/>
              </a:spcBef>
              <a:spcAft>
                <a:spcPts val="0"/>
              </a:spcAft>
              <a:buSzPts val="2720"/>
              <a:buChar char="•"/>
              <a:defRPr sz="3200"/>
            </a:lvl1pPr>
            <a:lvl2pPr indent="-379730" lvl="1" marL="9144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2pPr>
            <a:lvl3pPr indent="-365760" lvl="2" marL="1371600" algn="l">
              <a:spcBef>
                <a:spcPts val="480"/>
              </a:spcBef>
              <a:spcAft>
                <a:spcPts val="0"/>
              </a:spcAft>
              <a:buSzPts val="216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8A44E"/>
              </a:solidFill>
            </a:endParaRPr>
          </a:p>
        </p:txBody>
      </p:sp>
      <p:cxnSp>
        <p:nvCxnSpPr>
          <p:cNvPr id="73" name="Google Shape;73;p10"/>
          <p:cNvCxnSpPr/>
          <p:nvPr/>
        </p:nvCxnSpPr>
        <p:spPr>
          <a:xfrm rot="5400000">
            <a:off x="684114" y="2684956"/>
            <a:ext cx="418338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/>
          <p:nvPr>
            <p:ph idx="2" type="pic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12700">
              <a:srgbClr val="000000">
                <a:alpha val="58823"/>
              </a:srgbClr>
            </a:outerShdw>
          </a:effectLst>
        </p:spPr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2743200" y="-1085850"/>
            <a:ext cx="3657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 rot="5400000">
            <a:off x="5457825" y="1628775"/>
            <a:ext cx="44005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 rot="5400000">
            <a:off x="1266825" y="-352425"/>
            <a:ext cx="44005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973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38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6"/>
              </a:buClr>
              <a:buSzPts val="20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13716"/>
            <a:ext cx="2895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620000" y="13716"/>
            <a:ext cx="1066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212725" y="339725"/>
            <a:ext cx="8746490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FINAL  YEAR  RESEARCH  PROJECT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Review-1  Presentation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1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endParaRPr b="0" i="0" sz="1100" u="none" cap="none" strike="noStrike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Proactive Carbon Intelligence: ML-Based Emission Forecasting and Anomaly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endParaRPr b="1" i="0" sz="18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23215" y="2860040"/>
            <a:ext cx="3618230" cy="496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0">
            <a:normAutofit/>
          </a:bodyPr>
          <a:lstStyle/>
          <a:p>
            <a:pPr indent="0" lvl="0" marL="273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Supervised By</a:t>
            </a:r>
            <a:r>
              <a:rPr b="1" i="0" lang="en-US" sz="1700" u="none" cap="none" strike="noStrike">
                <a:solidFill>
                  <a:srgbClr val="361309"/>
                </a:solidFill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i="0" lang="en-US" sz="1700" u="none" cap="none" strike="noStrike">
                <a:solidFill>
                  <a:srgbClr val="361309"/>
                </a:solidFill>
                <a:latin typeface="Arial Narrow"/>
                <a:ea typeface="Arial Narrow"/>
                <a:cs typeface="Arial Narrow"/>
                <a:sym typeface="Arial Narrow"/>
              </a:rPr>
              <a:t>Dr.  Samir Kundu</a:t>
            </a:r>
            <a:r>
              <a:rPr b="1" i="0" lang="en-US" sz="1700" u="none" cap="none" strike="noStrike">
                <a:solidFill>
                  <a:srgbClr val="36130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67360" y="3580130"/>
            <a:ext cx="3672205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Group No.: 13 | Section: 29</a:t>
            </a:r>
            <a:endParaRPr b="0" i="0" sz="1400" u="none" cap="none" strike="noStrike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Name of the Student(s) with Regd. No.:</a:t>
            </a:r>
            <a:endParaRPr b="0" i="0" sz="13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Aryan Sharma – 2241019403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Anand Kumar Sharma – 2241019398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Saswat Dash – 2241004182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Suyash Kumar Anand – 2241001074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381625" y="3796030"/>
            <a:ext cx="357759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Department of Computer Sc. and Engineering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Faculty of Engineering &amp; Technology (ITER)</a:t>
            </a:r>
            <a:endParaRPr b="0" i="0" sz="1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Siksha ‘O’ Anusandhan (Deemed to be) University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Bhubaneswar, Odisha</a:t>
            </a:r>
            <a:endParaRPr b="0" i="0" sz="1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 fontScale="29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 strike="noStrike">
              <a:solidFill>
                <a:srgbClr val="5723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 strike="noStrike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Presentation Outline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43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3210" lvl="0" marL="365760" marR="0" rtl="0" algn="l"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Statement &amp; Motivations</a:t>
            </a:r>
            <a:endParaRPr/>
          </a:p>
          <a:p>
            <a:pPr indent="-283210" lvl="1" marL="8229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120"/>
              <a:buFont typeface="Noto Sans Symbols"/>
              <a:buChar char="▪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Statement</a:t>
            </a:r>
            <a:endParaRPr/>
          </a:p>
          <a:p>
            <a:pPr indent="-283210" lvl="1" marL="8229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120"/>
              <a:buFont typeface="Noto Sans Symbols"/>
              <a:buChar char="▪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Motivations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Review</a:t>
            </a:r>
            <a:endParaRPr/>
          </a:p>
          <a:p>
            <a:pPr indent="-283210" lvl="1" marL="8229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120"/>
              <a:buFont typeface="Noto Sans Symbols"/>
              <a:buChar char="▪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Solutions &amp; Limitations 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Methodology &amp; Approach 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Key Components/Modules &amp; Algorithms Used</a:t>
            </a:r>
            <a:endParaRPr b="1" sz="16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Dataset &amp; Tools/Technologies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Work Done So Far (Implementation Progress)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Preliminary Results (if any)</a:t>
            </a:r>
            <a:endParaRPr/>
          </a:p>
          <a:p>
            <a:pPr indent="-283210" lvl="0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Future Work Plan</a:t>
            </a:r>
            <a:endParaRPr b="1" sz="16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3210" lvl="1" marL="365760" marR="0" rtl="0" algn="l"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ts val="1280"/>
              <a:buFont typeface="Noto Sans Symbols"/>
              <a:buChar char="▪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References</a:t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Statement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Industrial Carbon Emission Challenge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Industrial facilities are among the largest contributors to global greenhouse gas emissions due to inefficient energy utilization.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Most industries rely on retrospective monitoring systems that detect emission spikes and energy waste only after they occur, leading to financial losses and environmental damage.</a:t>
            </a:r>
            <a:endParaRPr/>
          </a:p>
          <a:p>
            <a:pPr indent="0" lvl="0" marL="342900" marR="0" rtl="0" algn="l">
              <a:lnSpc>
                <a:spcPct val="7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Core Problem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Absence of predictive sustainability analytics causes delayed decision-making.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Need for a proactive, intelligent system that forecasts energy consumption, detects anomalous emission patterns, and provides optimization strategies.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No integrated platform currently combines forecasting, anomaly detection, and a user-friendly sustainability dashboard.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304800" y="205740"/>
            <a:ext cx="85369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Motivations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337820" y="989965"/>
            <a:ext cx="8504555" cy="395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Why This Matters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Increasing global concern over carbon emissions and climate change mandates proactive monitoring solutions.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Industrial sectors contribute ~37% of global CO₂ emissions; even marginal efficiency gains have large-scale environmental impact.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ESG (Environmental, Social, Governance) compliance is becoming mandatory for industries worldwide.</a:t>
            </a:r>
            <a:endParaRPr/>
          </a:p>
          <a:p>
            <a:pPr indent="0" lvl="0" marL="342900" marR="0" rtl="0" algn="l">
              <a:lnSpc>
                <a:spcPct val="7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Opportunity for 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Machine learning can identify hidden patterns in energy data that human analysts miss.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Predictive systems enable preventive action before emission spikes, reducing operational costs and penalties.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Lack of intelligent, integrated monitoring systems creates a clear research and industry gap.</a:t>
            </a:r>
            <a:endParaRPr/>
          </a:p>
          <a:p>
            <a:pPr indent="0" lvl="0" marL="342900" marR="0" rtl="0" algn="l">
              <a:lnSpc>
                <a:spcPct val="7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Project Goal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Develop Verdify — a data-driven AI framework for industrial energy waste reduction and emission optimization</a:t>
            </a:r>
            <a:r>
              <a:rPr b="0" lang="en-US" sz="12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480212" y="206010"/>
            <a:ext cx="78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Review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28596" y="987630"/>
            <a:ext cx="8504804" cy="1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6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Key Findings from Existing Literature</a:t>
            </a:r>
            <a:endParaRPr/>
          </a:p>
          <a:p>
            <a:pPr indent="0" lvl="0" marL="0" marR="0" rtl="0" algn="l">
              <a:lnSpc>
                <a:spcPct val="6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ML widely used for energy prediction: LSTM, GRU, and ARIMA/SARIMA show strong time-series forecasting performance (MAE, RMSE metrics).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Isolation Forest &amp; One-Class SVM are established methods for anomaly detection in industrial sensor data.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Ensemble models (Gradient Boosting, Random Forest) improve prediction accuracy over single models.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CNN-based deep learning achieves high accuracy but is computationally expensive and requires large datasets.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428596" y="2720000"/>
            <a:ext cx="8504804" cy="1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6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Representative Works</a:t>
            </a:r>
            <a:endParaRPr/>
          </a:p>
          <a:p>
            <a:pPr indent="0" lvl="0" marL="0" marR="0" rtl="0" algn="l">
              <a:lnSpc>
                <a:spcPct val="64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Smith et al. (2022): Random Forest on UCI data — Accuracy 92–95%, F1: 0.91. Stable but limited scalability.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Kumar &amp; Patel (2023): CNN on custom dataset — Accuracy 90–93%, F1: 0.89. Superior feature extraction, high compute cost.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Roy et al. (2020): Hybrid CNN-LSTM model for sequential pattern learning in industrial settings.</a:t>
            </a:r>
            <a:endParaRPr/>
          </a:p>
          <a:p>
            <a:pPr indent="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285750" marR="0" rtl="0" algn="l">
              <a:lnSpc>
                <a:spcPct val="91666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Patel &amp; Shah (2022): Transfer learning (VGG16) adapted for sensor-based classification tasks.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rgbClr val="B5A98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800"/>
              <a:buFont typeface="Arial Narrow"/>
              <a:buNone/>
            </a:pPr>
            <a:r>
              <a:rPr b="1" i="0" lang="en-US" sz="2800" u="none" cap="none" strike="noStrike">
                <a:solidFill>
                  <a:srgbClr val="572314"/>
                </a:solidFill>
                <a:latin typeface="Arial Narrow"/>
                <a:ea typeface="Arial Narrow"/>
                <a:cs typeface="Arial Narrow"/>
                <a:sym typeface="Arial Narrow"/>
              </a:rPr>
              <a:t>Research Gap &amp; Improvements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Limitations of Existing Systems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Most existing systems are reactive — they detect anomalies and emission spikes only after they occur.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Limited integration of forecasting and anomaly detection in a single cohesive framework.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Absence of user-friendly dashboards for real-time visualization and decision support.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research lacks optimization modules that recommend actionable emission reduction strategies.</a:t>
            </a:r>
            <a:endParaRPr/>
          </a:p>
          <a:p>
            <a:pPr indent="0" lvl="0" marL="342900" marR="0" rtl="0" algn="l">
              <a:lnSpc>
                <a:spcPct val="7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Our Improvements (Verdify)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Predictive + Proactive: LSTM forecasts future emissions before they occur, enabling early intervention.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Integrated Framework: Forecasting, anomaly detection, and optimization combined in one system.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User-Friendly Dashboard: Streamlit-based visualization with alerts, simulations, and insights.</a:t>
            </a:r>
            <a:endParaRPr/>
          </a:p>
          <a:p>
            <a:pPr indent="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Optimization Module: Regression and Gradient Boosting models recommend efficient operational parameters.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989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&amp; Architecture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System Architecture — Verdify Framework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Input: Structured industrial dataset — Temperature (AT), Vacuum (V), Pressure (AP), Humidity (RH), Power Output (PE).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CO₂ Estimation: Derived using emission factor — CO₂ = PE × 0.82 (kg/kWh).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Power Prediction Module: Linear Regression &amp; Gradient Boosting models trained on environmental features.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Anomaly Detection Module: Isolation Forest computes residuals and flags abnormal emission events.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Visualization Module: Plotted anomalies and trend charts for decision support.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Workflow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Environmental Data (AT, V, AP, RH) → Power Prediction Model → CO₂ Estimation → Residual Calculation → Anomaly Detection (Isolation Forest) → Dashboard Visualization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989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987954" y="3291830"/>
            <a:ext cx="62483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/>
        </p:nvSpPr>
        <p:spPr>
          <a:xfrm>
            <a:off x="938654" y="4142405"/>
            <a:ext cx="6248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1: </a:t>
            </a:r>
            <a:r>
              <a:rPr lang="en-US" sz="1100">
                <a:solidFill>
                  <a:schemeClr val="dk1"/>
                </a:solidFill>
              </a:rPr>
              <a:t>Workflow 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 Proposed ML-Based Emission Monitoring System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2590150" y="372450"/>
            <a:ext cx="2945400" cy="5430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21"/>
          <p:cNvSpPr txBox="1"/>
          <p:nvPr/>
        </p:nvSpPr>
        <p:spPr>
          <a:xfrm>
            <a:off x="2730925" y="469950"/>
            <a:ext cx="2945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    </a:t>
            </a:r>
            <a:r>
              <a:rPr b="1" lang="en-US">
                <a:solidFill>
                  <a:schemeClr val="dk1"/>
                </a:solidFill>
              </a:rPr>
              <a:t>Environmental Data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                      (AT, V, AP, RH)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2460250" y="1139650"/>
            <a:ext cx="33135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3900400" y="946400"/>
            <a:ext cx="129900" cy="16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3315900" y="1139650"/>
            <a:ext cx="251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Data Preprocessing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3900400" y="1493650"/>
            <a:ext cx="129900" cy="16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2043350" y="1700075"/>
            <a:ext cx="41580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2660750" y="1612325"/>
            <a:ext cx="302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                    Feature Selection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                          &amp; Preparation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292350" y="2275800"/>
            <a:ext cx="3660000" cy="2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2563400" y="2223588"/>
            <a:ext cx="321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            </a:t>
            </a:r>
            <a:r>
              <a:rPr lang="en-US" sz="1100">
                <a:solidFill>
                  <a:schemeClr val="dk1"/>
                </a:solidFill>
              </a:rPr>
              <a:t>   Power Prediction Model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2514650" y="2773225"/>
            <a:ext cx="33135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3174700" y="2711575"/>
            <a:ext cx="302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    CO₂ Emission Estimation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(CO₂ = PE × 0.82)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2546875" y="3322850"/>
            <a:ext cx="3313500" cy="2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3483325" y="3237550"/>
            <a:ext cx="27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Residual </a:t>
            </a:r>
            <a:r>
              <a:rPr lang="en-US" sz="900">
                <a:solidFill>
                  <a:schemeClr val="dk1"/>
                </a:solidFill>
              </a:rPr>
              <a:t>Calculation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(Actual - Predicted)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2644375" y="3732625"/>
            <a:ext cx="3216000" cy="2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3483325" y="3652300"/>
            <a:ext cx="31728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Anomaly Detection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1000">
                <a:solidFill>
                  <a:schemeClr val="dk1"/>
                </a:solidFill>
              </a:rPr>
              <a:t>(Isolation Forest)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3239875" y="4151625"/>
            <a:ext cx="2176500" cy="20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3250700" y="4119125"/>
            <a:ext cx="2165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800">
                <a:solidFill>
                  <a:schemeClr val="dk1"/>
                </a:solidFill>
              </a:rPr>
              <a:t>Result Analysis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3640525" y="4487300"/>
            <a:ext cx="1115400" cy="20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3624500" y="4426975"/>
            <a:ext cx="10938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-US" sz="920">
                <a:solidFill>
                  <a:schemeClr val="dk1"/>
                </a:solidFill>
              </a:rPr>
              <a:t>Output</a:t>
            </a:r>
            <a:endParaRPr b="1" sz="920">
              <a:solidFill>
                <a:schemeClr val="dk1"/>
              </a:solidFill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900400" y="2080863"/>
            <a:ext cx="129900" cy="20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943700" y="2538175"/>
            <a:ext cx="129900" cy="20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987025" y="3133750"/>
            <a:ext cx="129900" cy="20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3943700" y="3580500"/>
            <a:ext cx="129900" cy="162300"/>
          </a:xfrm>
          <a:prstGeom prst="downArrow">
            <a:avLst>
              <a:gd fmla="val 66628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3987025" y="4003738"/>
            <a:ext cx="129900" cy="16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4052000" y="4346525"/>
            <a:ext cx="129900" cy="16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Tools/Technologies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Dataset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Combined Cycle Power Plant Dataset (UCI Machine Learning Repository)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Features: Ambient Temperature (AT), Exhaust Vacuum (V), Ambient Pressure (AP), Relative Humidity (RH), Net Electrical Output (PE)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CO₂ emissions derived: CO₂ = PE × 0.82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Tools &amp; Technologies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Language: Python 3.x | Environment: Jupyter Notebook / VS Code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 Processing: NumPy, Pandas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Visualization: Matplotlib, Seaborn, Plotly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ML Models: Scikit-learn (Linear Regression, Gradient Boosting, Isolation Forest)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Deep Learning: TensorFlow / PyTorch (LSTM, Autoencoders — planned)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Dashboard: Streamlit (planned deployment)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Database: SQLite / PostgreSQL (optional storage)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989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in Implementation Plan &amp; Methodology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Completed Tasks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 preprocessing completed — handled missing values, normalized features, split into train/test sets.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CO₂ emission values derived from power output using the emission factor: CO₂ = PE × 0.82.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Linear Regression model implemented and evaluated (RMSE ≈ 4.47).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Gradient Boosting Regressor implemented and compared — outperforms Linear Regression (RMSE ≈ 3.80).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Anomaly Detection using Isolation Forest completed — 192 anomalies flagged (~2% of data).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Visualization of anomalies and emission trends completed using Matplotlib.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Preliminary Results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Linear Regression RMSE: 4.47 | Gradient Boosting RMSE: 3.80 (14.9% improvement)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Anomaly Detection: 192 anomalies detected out of ~9,500 records (~2% abnormal behavior identified)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Model comparison performed — Gradient Boosting selected as primary prediction model going forward.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989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 title="realistic_anomal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8275" y="1063000"/>
            <a:ext cx="2065125" cy="18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title="realistic_predi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0675" y="3073925"/>
            <a:ext cx="2292725" cy="17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Plan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Short-Term (Next 4 Weeks)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 LSTM model for time-series forecasting of CO₂ emissions and energy consumption.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Evaluate LSTM against Gradient Boosting using MAE, RMSE, and MAPE metrics.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Begin development of the Streamlit-based sustainability analytics dashboard.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Mid-Term (Weeks 5–8)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Integrate all three modules (forecasting, anomaly detection, optimization) into unified Verdify framework.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Add One-Class SVM and Autoencoder-based anomaly detection for comparison.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 carbon reduction simulation feature in the dashboard.</a:t>
            </a:r>
            <a:endParaRPr/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66666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Long-Term (Final Phase)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Optimize model performance through hyperparameter tuning and cross-validation.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Explore Reinforcement Learning-based policy optimization module.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Integrate real-time monitoring capabilities and finalize ESG compliance reporting module.</a:t>
            </a:r>
            <a:endParaRPr/>
          </a:p>
          <a:p>
            <a:pPr indent="-76200" lvl="0" marL="34290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Char char="•"/>
            </a:pP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Complete documentation, testing, and final project report submission.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989"/>
              </a:buClr>
              <a:buSzPts val="1200"/>
              <a:buFont typeface="Gill San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480212" y="206010"/>
            <a:ext cx="8361928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723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428596" y="920000"/>
            <a:ext cx="8504804" cy="3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 fontScale="97500"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[1]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UCI Machine Learning Repository. Combined Cycle Power Plant Dataset. Available: https://archive.ics.uci.edu/ml/datasets/Combined+Cycle+Power+Plant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[2]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Tufekci, P. (2014). Prediction of full load electrical power output of a combined cycle power plant using ML methods. Int. J. Electrical Power &amp; Energy Systems, 60, 126-140.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[3]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Liu, F. T., Ting, K. M., &amp; Zhou, Z. H. (2008). Isolation Forest. Proceedings of IEEE ICDM, pp. 413-422.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[4]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Hochreiter, S., &amp; Schmidhuber, J. (1997). Long Short-Term Memory. Neural Computation, 9(8), 1735-1780.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[5]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Chen, T., &amp; Guestrin, C. (2016). XGBoost: A Scalable Tree Boosting System. ACM SIGKDD, pp. 785-794.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Arial Narrow"/>
                <a:ea typeface="Arial Narrow"/>
                <a:cs typeface="Arial Narrow"/>
                <a:sym typeface="Arial Narrow"/>
              </a:rPr>
              <a:t>[6] </a:t>
            </a:r>
            <a:r>
              <a:rPr b="0" lang="en-US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Pedregosa et al. (2011). Scikit-learn: Machine Learning in Python. JMLR 12, pp. 2825-2830. Available: https://scikit-learn.org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rgbClr val="B5A98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B5A989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