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10" r:id="rId2"/>
    <p:sldMasterId id="2147483713" r:id="rId3"/>
    <p:sldMasterId id="2147483715" r:id="rId4"/>
    <p:sldMasterId id="2147483728" r:id="rId5"/>
    <p:sldMasterId id="2147483730" r:id="rId6"/>
  </p:sldMasterIdLst>
  <p:notesMasterIdLst>
    <p:notesMasterId r:id="rId21"/>
  </p:notesMasterIdLst>
  <p:sldIdLst>
    <p:sldId id="256" r:id="rId7"/>
    <p:sldId id="257" r:id="rId8"/>
    <p:sldId id="258" r:id="rId9"/>
    <p:sldId id="265" r:id="rId10"/>
    <p:sldId id="259" r:id="rId11"/>
    <p:sldId id="267" r:id="rId12"/>
    <p:sldId id="273" r:id="rId13"/>
    <p:sldId id="275" r:id="rId14"/>
    <p:sldId id="274" r:id="rId15"/>
    <p:sldId id="269" r:id="rId16"/>
    <p:sldId id="270" r:id="rId17"/>
    <p:sldId id="271" r:id="rId18"/>
    <p:sldId id="264" r:id="rId19"/>
    <p:sldId id="263" r:id="rId20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38" d="100"/>
          <a:sy n="138" d="100"/>
        </p:scale>
        <p:origin x="834" y="198"/>
      </p:cViewPr>
      <p:guideLst>
        <p:guide orient="horz" pos="1620"/>
        <p:guide pos="28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/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/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-GB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/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/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/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/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/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/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/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/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12725" y="339725"/>
            <a:ext cx="8746490" cy="94932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Arial Narrow" panose="020B0606020202030204" charset="0"/>
                <a:ea typeface="+mj-ea"/>
                <a:cs typeface="Arial Narrow" panose="020B0606020202030204" charset="0"/>
              </a:rPr>
              <a:t>FINAL  YEAR  RESEARCH  PROJECT </a:t>
            </a:r>
          </a:p>
          <a:p>
            <a:pPr algn="l"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Arial Narrow" panose="020B0606020202030204" charset="0"/>
                <a:ea typeface="+mj-ea"/>
                <a:cs typeface="Arial Narrow" panose="020B0606020202030204" charset="0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Arial Narrow" panose="020B0606020202030204" charset="0"/>
                <a:ea typeface="+mj-ea"/>
                <a:cs typeface="Arial Narrow" panose="020B0606020202030204" charset="0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Arial Narrow" panose="020B0606020202030204" charset="0"/>
                <a:ea typeface="+mj-ea"/>
                <a:cs typeface="Arial Narrow" panose="020B0606020202030204" charset="0"/>
              </a:rPr>
              <a:t>-1  </a:t>
            </a:r>
            <a:r>
              <a:rPr lang="en-US" sz="2800" spc="-100" dirty="0">
                <a:solidFill>
                  <a:schemeClr val="tx2"/>
                </a:solidFill>
                <a:latin typeface="Arial Narrow" panose="020B0606020202030204" charset="0"/>
                <a:ea typeface="+mj-ea"/>
                <a:cs typeface="Arial Narrow" panose="020B0606020202030204" charset="0"/>
              </a:rPr>
              <a:t>Presentation</a:t>
            </a:r>
          </a:p>
          <a:p>
            <a:pPr algn="l">
              <a:lnSpc>
                <a:spcPct val="100000"/>
              </a:lnSpc>
            </a:pPr>
            <a:br>
              <a:rPr lang="en-US" sz="1100" dirty="0">
                <a:latin typeface="Bebas Neue"/>
              </a:rPr>
            </a:br>
            <a:endParaRPr lang="en-US" sz="1100" dirty="0">
              <a:latin typeface="Bebas Neue"/>
            </a:endParaRPr>
          </a:p>
          <a:p>
            <a:pPr algn="ctr">
              <a:lnSpc>
                <a:spcPct val="100000"/>
              </a:lnSpc>
            </a:pPr>
            <a:r>
              <a:rPr lang="en-US" altLang="en-US" b="1" dirty="0">
                <a:latin typeface="Arial Narrow" panose="020B0606020202030204" charset="0"/>
                <a:cs typeface="Arial Narrow" panose="020B0606020202030204" charset="0"/>
              </a:rPr>
              <a:t>   </a:t>
            </a:r>
            <a:r>
              <a:rPr lang="en-US" altLang="en-US" sz="2400" b="1" dirty="0">
                <a:latin typeface="Arial Narrow" panose="020B0606020202030204" charset="0"/>
                <a:cs typeface="Arial Narrow" panose="020B0606020202030204" charset="0"/>
              </a:rPr>
              <a:t>Proactive Carbon Intelligence: ML-Based Emission Forecasting and Anomaly</a:t>
            </a:r>
            <a:r>
              <a:rPr lang="en-US" b="1" dirty="0">
                <a:latin typeface="Arial Narrow" panose="020B0606020202030204" charset="0"/>
                <a:cs typeface="Arial Narrow" panose="020B0606020202030204" charset="0"/>
              </a:rPr>
              <a:t>	</a:t>
            </a:r>
            <a:endParaRPr lang="en-US" b="1" strike="noStrike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23215" y="2860040"/>
            <a:ext cx="3618230" cy="49657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/>
          </a:bodyPr>
          <a:lstStyle/>
          <a:p>
            <a:pPr marL="27305" algn="l">
              <a:lnSpc>
                <a:spcPct val="100000"/>
              </a:lnSpc>
              <a:spcBef>
                <a:spcPts val="600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Arial Narrow" panose="020B0606020202030204" charset="0"/>
                <a:cs typeface="Arial Narrow" panose="020B0606020202030204" charset="0"/>
              </a:rPr>
              <a:t>:</a:t>
            </a:r>
            <a:r>
              <a:rPr lang="en-IN" sz="1700" spc="-1" dirty="0">
                <a:latin typeface="Arial Narrow" panose="020B0606020202030204" charset="0"/>
                <a:cs typeface="Arial Narrow" panose="020B0606020202030204" charset="0"/>
              </a:rPr>
              <a:t> </a:t>
            </a:r>
            <a:r>
              <a:rPr lang="en-IN" sz="1700" b="1" strike="noStrike" spc="-1" dirty="0" err="1">
                <a:solidFill>
                  <a:srgbClr val="361309"/>
                </a:solidFill>
                <a:latin typeface="Arial Narrow" panose="020B0606020202030204" charset="0"/>
                <a:cs typeface="Arial Narrow" panose="020B0606020202030204" charset="0"/>
              </a:rPr>
              <a:t>Dr.</a:t>
            </a:r>
            <a:r>
              <a:rPr lang="en-US" altLang="en-IN" sz="1700" b="1" strike="noStrike" spc="-1" dirty="0" err="1">
                <a:solidFill>
                  <a:srgbClr val="361309"/>
                </a:solidFill>
                <a:latin typeface="Arial Narrow" panose="020B0606020202030204" charset="0"/>
                <a:cs typeface="Arial Narrow" panose="020B0606020202030204" charset="0"/>
              </a:rPr>
              <a:t>  Samir Kundu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 panose="020B0502020104020203"/>
              </a:rPr>
              <a:t> </a:t>
            </a:r>
            <a:endParaRPr lang="en-IN" sz="1700" b="0" strike="noStrike" spc="-1" dirty="0">
              <a:latin typeface="Arial" panose="020B0604020202020204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467360" y="3580130"/>
            <a:ext cx="3672205" cy="13373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Group No.: 13 | Section: 29</a:t>
            </a:r>
            <a:endParaRPr lang="en-IN" sz="1400" b="0" strike="noStrike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Name of the Student(s) with Regd. No.:</a:t>
            </a:r>
            <a:endParaRPr lang="en-IN" sz="1300" b="0" strike="noStrike" spc="-1" dirty="0"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Aryan Sharma – 2241019403</a:t>
            </a: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Anand Kumar Sharma – 2241019398</a:t>
            </a: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Saswat Dash – 2241004182</a:t>
            </a: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Suyash Kumar Anand – 2241001074</a:t>
            </a: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 panose="020B0604020202020204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381625" y="3796030"/>
            <a:ext cx="3577590" cy="11214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Department of Computer Sc. and Engineering</a:t>
            </a: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Faculty of Engineering &amp; Technology (ITER)</a:t>
            </a:r>
            <a:endParaRPr lang="en-IN" sz="1200" b="0" strike="noStrike" spc="-1" dirty="0"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Siksha ‘O’ </a:t>
            </a:r>
            <a:r>
              <a:rPr lang="en-IN" sz="1200" b="1" strike="noStrike" spc="-1" dirty="0" err="1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Anusandhan</a:t>
            </a:r>
            <a:r>
              <a:rPr lang="en-IN" sz="1200" b="1" strike="noStrike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 (Deemed to be) University</a:t>
            </a:r>
            <a:r>
              <a:rPr lang="en-IN" sz="1200" b="0" strike="noStrike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Bhubaneswar, Odisha</a:t>
            </a:r>
            <a:endParaRPr lang="en-IN" sz="1200" b="0" strike="noStrike" spc="-1" dirty="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  <a:t>1</a:t>
            </a:fld>
            <a:endParaRPr lang="en-IN" sz="1200" b="0" strike="noStrike" spc="-1">
              <a:latin typeface="Times New Roman" panose="02020603050405020304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Arial Narrow" panose="020B0606020202030204" charset="0"/>
                <a:cs typeface="Arial Narrow" panose="020B0606020202030204" charset="0"/>
              </a:rPr>
              <a:t>Presentation Outline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b="1" spc="-1" dirty="0">
                <a:latin typeface="Arial Narrow" panose="020B0606020202030204" charset="0"/>
                <a:cs typeface="Arial Narrow" panose="020B0606020202030204" charset="0"/>
              </a:rPr>
              <a:t>Problem Statement &amp; Motivations</a:t>
            </a:r>
          </a:p>
          <a:p>
            <a:pPr marL="8229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400" b="1" spc="-1" dirty="0">
                <a:latin typeface="Arial Narrow" panose="020B0606020202030204" charset="0"/>
                <a:cs typeface="Arial Narrow" panose="020B0606020202030204" charset="0"/>
              </a:rPr>
              <a:t>Problem Statement</a:t>
            </a:r>
          </a:p>
          <a:p>
            <a:pPr marL="8229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400" b="1" spc="-1" dirty="0">
                <a:latin typeface="Arial Narrow" panose="020B0606020202030204" charset="0"/>
                <a:cs typeface="Arial Narrow" panose="020B0606020202030204" charset="0"/>
              </a:rPr>
              <a:t>Motivations</a:t>
            </a: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b="1" spc="-1" dirty="0">
                <a:latin typeface="Arial Narrow" panose="020B0606020202030204" charset="0"/>
                <a:cs typeface="Arial Narrow" panose="020B0606020202030204" charset="0"/>
              </a:rPr>
              <a:t>Literature Review</a:t>
            </a:r>
          </a:p>
          <a:p>
            <a:pPr marL="8229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400" b="1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Existing Solutions &amp; Limitations </a:t>
            </a: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b="1" spc="-1" dirty="0">
                <a:latin typeface="Arial Narrow" panose="020B0606020202030204" charset="0"/>
                <a:cs typeface="Arial Narrow" panose="020B0606020202030204" charset="0"/>
              </a:rPr>
              <a:t>Proposed Methodology &amp; Approach </a:t>
            </a: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b="1" spc="-1" dirty="0">
                <a:latin typeface="Arial Narrow" panose="020B0606020202030204" charset="0"/>
                <a:cs typeface="Arial Narrow" panose="020B0606020202030204" charset="0"/>
              </a:rPr>
              <a:t>Key Components/Modules &amp; Algorithms Used</a:t>
            </a:r>
            <a:endParaRPr lang="en-US" sz="1600" b="1" spc="-1" dirty="0">
              <a:latin typeface="Arial Narrow" panose="020B0606020202030204" charset="0"/>
              <a:cs typeface="Arial Narrow" panose="020B0606020202030204" charset="0"/>
            </a:endParaRP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b="1" spc="-1" dirty="0">
                <a:latin typeface="Arial Narrow" panose="020B0606020202030204" charset="0"/>
                <a:cs typeface="Arial Narrow" panose="020B0606020202030204" charset="0"/>
              </a:rPr>
              <a:t>Dataset &amp; Tools/Technologies</a:t>
            </a: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US" sz="1600" b="1" spc="-1" dirty="0">
                <a:latin typeface="Arial Narrow" panose="020B0606020202030204" charset="0"/>
                <a:cs typeface="Arial Narrow" panose="020B0606020202030204" charset="0"/>
              </a:rPr>
              <a:t>Work Done So Far (Implementation Progress)</a:t>
            </a: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b="1" spc="-1" dirty="0">
                <a:latin typeface="Arial Narrow" panose="020B0606020202030204" charset="0"/>
                <a:cs typeface="Arial Narrow" panose="020B0606020202030204" charset="0"/>
              </a:rPr>
              <a:t>Preliminary Results (if any)</a:t>
            </a:r>
          </a:p>
          <a:p>
            <a:pPr marL="365760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en-IN" sz="1600" b="1" spc="-1" dirty="0">
                <a:latin typeface="Arial Narrow" panose="020B0606020202030204" charset="0"/>
                <a:cs typeface="Arial Narrow" panose="020B0606020202030204" charset="0"/>
              </a:rPr>
              <a:t>Future Work Plan</a:t>
            </a:r>
            <a:endParaRPr lang="en-US" sz="1600" b="1" spc="-1" dirty="0">
              <a:latin typeface="Arial Narrow" panose="020B0606020202030204" charset="0"/>
              <a:cs typeface="Arial Narrow" panose="020B0606020202030204" charset="0"/>
            </a:endParaRPr>
          </a:p>
          <a:p>
            <a:pPr marL="365760" lvl="1" indent="-283210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"/>
            </a:pPr>
            <a:r>
              <a:rPr lang="da-DK" sz="1600" b="1" spc="-1" dirty="0">
                <a:latin typeface="Arial Narrow" panose="020B0606020202030204" charset="0"/>
                <a:cs typeface="Arial Narrow" panose="020B0606020202030204" charset="0"/>
              </a:rPr>
              <a:t>References</a:t>
            </a:r>
            <a:endParaRPr lang="en-US" sz="1600" b="1" spc="-1" dirty="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  <a:t>2</a:t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Arial Narrow" panose="020B0606020202030204" charset="0"/>
                <a:cs typeface="Arial Narrow" panose="020B0606020202030204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l"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Industrial Carbon Emission Challenge</a:t>
            </a:r>
          </a:p>
          <a:p>
            <a:pPr algn="l">
              <a:lnSpc>
                <a:spcPts val="1200"/>
              </a:lnSpc>
              <a:spcBef>
                <a:spcPts val="300"/>
              </a:spcBef>
            </a:pPr>
            <a:endParaRPr lang="en-US" sz="12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Industrial facilities are among the largest contributors to global greenhouse gas emissions due to inefficient energy utilization.</a:t>
            </a: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Most industries rely on retrospective monitoring systems that detect emission spikes and energy waste only after they occur, leading to financial losses and environmental damage.</a:t>
            </a: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6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algn="l"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Core Problem</a:t>
            </a:r>
          </a:p>
          <a:p>
            <a:pPr algn="l">
              <a:lnSpc>
                <a:spcPts val="1200"/>
              </a:lnSpc>
              <a:spcBef>
                <a:spcPts val="300"/>
              </a:spcBef>
            </a:pPr>
            <a:endParaRPr lang="en-US" sz="12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Absence of predictive sustainability analytics causes delayed decision-making.</a:t>
            </a: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Need for a proactive, intelligent system that forecasts energy consumption, detects anomalous emission patterns, and provides optimization strategies.</a:t>
            </a: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 algn="l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No integrated platform currently combines forecasting, anomaly detection, and a user-friendly sustainability dashboard.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  <a:t>3</a:t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304800" y="205740"/>
            <a:ext cx="8536940" cy="85725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Arial Narrow" panose="020B0606020202030204" charset="0"/>
                <a:cs typeface="Arial Narrow" panose="020B0606020202030204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337820" y="989965"/>
            <a:ext cx="8504555" cy="39547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Why This Matters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Increasing global concern over carbon emissions and climate change mandates proactive monitoring solutions.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Industrial sectors contribute ~37% of global CO₂ emissions; even marginal efficiency gains have large-scale environmental impact.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ESG (Environmental, Social, Governance) compliance is becoming mandatory for industries worldwide.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6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Opportunity for AI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2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Machine learning can identify hidden patterns in energy data that human analysts miss.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Predictive systems enable preventive action before emission spikes, reducing operational costs and penalties.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Lack of intelligent, integrated monitoring systems creates a clear research and industry gap.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6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Project Goal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Develop Verdify — a data-driven AI framework for industrial energy waste reduction and emission optimization</a:t>
            </a:r>
            <a:r>
              <a:rPr lang="en-US" sz="1200" b="0" spc="-1" dirty="0">
                <a:solidFill>
                  <a:srgbClr val="000000"/>
                </a:solidFill>
                <a:latin typeface="Gill Sans MT" panose="020B0502020104020203"/>
              </a:rPr>
              <a:t>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  <a:t>4</a:t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480212" y="206010"/>
            <a:ext cx="7800000" cy="62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Arial Narrow" panose="020B0606020202030204" charset="0"/>
                <a:cs typeface="Arial Narrow" panose="020B0606020202030204" charset="0"/>
              </a:rPr>
              <a:t>Literature Review</a:t>
            </a:r>
          </a:p>
        </p:txBody>
      </p:sp>
      <p:sp>
        <p:nvSpPr>
          <p:cNvPr id="110" name="TopSection"/>
          <p:cNvSpPr txBox="1"/>
          <p:nvPr/>
        </p:nvSpPr>
        <p:spPr>
          <a:xfrm>
            <a:off x="428596" y="987630"/>
            <a:ext cx="8504804" cy="175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lang="en-US" sz="17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Key Findings from Existing Literature</a:t>
            </a:r>
          </a:p>
          <a:p>
            <a:pPr>
              <a:lnSpc>
                <a:spcPts val="1100"/>
              </a:lnSpc>
              <a:spcBef>
                <a:spcPts val="0"/>
              </a:spcBef>
            </a:pPr>
            <a:endParaRPr lang="en-US" sz="17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ML widely used for energy prediction: LSTM, GRU, and ARIMA/SARIMA show strong time-series forecasting performance (MAE, RMSE metrics).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Isolation Forest &amp; One-Class SVM are established methods for anomaly detection in industrial sensor data.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Ensemble models (Gradient Boosting, Random Forest) improve prediction accuracy over single models.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CNN-based deep learning achieves high accuracy but is computationally expensive and requires large datasets.</a:t>
            </a:r>
          </a:p>
        </p:txBody>
      </p:sp>
      <p:sp>
        <p:nvSpPr>
          <p:cNvPr id="111" name="BottomSection"/>
          <p:cNvSpPr txBox="1"/>
          <p:nvPr/>
        </p:nvSpPr>
        <p:spPr>
          <a:xfrm>
            <a:off x="428596" y="2720000"/>
            <a:ext cx="8504804" cy="187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lang="en-US" sz="17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Representative Works</a:t>
            </a:r>
          </a:p>
          <a:p>
            <a:pPr>
              <a:lnSpc>
                <a:spcPts val="1100"/>
              </a:lnSpc>
              <a:spcBef>
                <a:spcPts val="0"/>
              </a:spcBef>
            </a:pPr>
            <a:endParaRPr lang="en-US" sz="17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Smith et al. (2022): Random Forest on UCI data — Accuracy 92–95%, F1: 0.91. Stable but limited scalability.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Kumar &amp; Patel (2023): CNN on custom dataset — Accuracy 90–93%, F1: 0.89. Superior feature extraction, high compute cost.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Roy et al. (2020): Hybrid CNN-LSTM model for sequential pattern learning in industrial settings.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Patel &amp; Shah (2022): Transfer learning (VGG16) adapted for sensor-based classification tasks.</a:t>
            </a:r>
          </a:p>
        </p:txBody>
      </p:sp>
      <p:sp>
        <p:nvSpPr>
          <p:cNvPr id="112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  <a:t>5</a:t>
            </a:fld>
            <a:endParaRPr lang="en-IN" sz="1200" b="0" strike="noStrike" spc="-1">
              <a:solidFill>
                <a:srgbClr val="B5A989"/>
              </a:solidFill>
              <a:latin typeface="Gill Sans MT" panose="020B0502020104020203"/>
            </a:endParaRPr>
          </a:p>
        </p:txBody>
      </p:sp>
      <p:pic>
        <p:nvPicPr>
          <p:cNvPr id="113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Arial Narrow" panose="020B0606020202030204" charset="0"/>
                <a:ea typeface="+mn-ea"/>
                <a:cs typeface="Arial Narrow" panose="020B0606020202030204" charset="0"/>
              </a:rPr>
              <a:t>Research Gap &amp; Improvements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Limitations of Existing Systems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Most existing systems are reactive — they detect anomalies and emission spikes only after they occur.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Limited integration of forecasting and anomaly detection in a single cohesive framework.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Absence of user-friendly dashboards for real-time visualization and decision support.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Existing research lacks optimization modules that recommend actionable emission reduction strategies.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6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Arial Narrow" panose="020B0606020202030204" charset="0"/>
                <a:cs typeface="Arial Narrow" panose="020B0606020202030204" charset="0"/>
              </a:rPr>
              <a:t>Our Improvements (Verdify)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Predictive + Proactive: LSTM forecasts future emissions before they occur, enabling early intervention.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Integrated Framework: Forecasting, anomaly detection, and optimization combined in one system.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User-Friendly Dashboard: Streamlit-based visualization with alerts, simulations, and insights.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endParaRPr lang="en-US" sz="1200" b="0" spc="-1" dirty="0">
              <a:solidFill>
                <a:srgbClr val="000000"/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charset="0"/>
                <a:cs typeface="Arial Narrow" panose="020B0606020202030204" charset="0"/>
              </a:rPr>
              <a:t>Optimization Module: Regression and Gradient Boosting models recommend efficient operational parameters.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Solution &amp; Architecture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System Architecture — Verdify Framework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Input: Structured industrial dataset — Temperature (AT), Vacuum (V), Pressure (AP), Humidity (RH), Power Output (PE).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CO₂ Estimation: Derived using emission factor — CO₂ = PE × 0.82 (kg/kWh).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Power Prediction Module: Linear Regression &amp; Gradient Boosting models trained on environmental features.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Anomaly Detection Module: Isolation Forest computes residuals and flags abnormal emission events.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Visualization Module: Plotted anomalies and trend charts for decision support.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Gill Sans MT" panose="020B0502020104020203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Workflow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Environmental Data (AT, V, AP, RH) → Power Prediction Model → CO₂ Estimation → Residual Calculation → Anomaly Detection (Isolation Forest) → Dashboard Visualization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987954" y="3291830"/>
            <a:ext cx="62483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16E9C93-BB7C-7935-FD10-2D5CF1FB95A4}"/>
              </a:ext>
            </a:extLst>
          </p:cNvPr>
          <p:cNvGrpSpPr/>
          <p:nvPr/>
        </p:nvGrpSpPr>
        <p:grpSpPr>
          <a:xfrm>
            <a:off x="2511367" y="881739"/>
            <a:ext cx="3201516" cy="3014550"/>
            <a:chOff x="0" y="0"/>
            <a:chExt cx="2514600" cy="443484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0D90DF1-9FDE-B87A-7E92-DB4545525F07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6BAC93-08BE-A211-9123-BE62E47FAAA9}"/>
                </a:ext>
              </a:extLst>
            </p:cNvPr>
            <p:cNvSpPr/>
            <p:nvPr/>
          </p:nvSpPr>
          <p:spPr>
            <a:xfrm>
              <a:off x="198120" y="731520"/>
              <a:ext cx="1950098" cy="4343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Preprocessing 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9EA8489-8EDB-0090-2DA2-CAA2C186276D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E65A4A-38C4-DA84-DE88-1AE9356F1DDA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CNN-Based Feature Extraction &amp; Selection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8430C12-2DD2-4F20-A72E-FF50440833C9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71AF0E-0945-C763-4788-0C4C71CA375A}"/>
                </a:ext>
              </a:extLst>
            </p:cNvPr>
            <p:cNvSpPr/>
            <p:nvPr/>
          </p:nvSpPr>
          <p:spPr>
            <a:xfrm>
              <a:off x="114300" y="2164080"/>
              <a:ext cx="2206690" cy="3352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Attention Mechanism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A02FF4-C3B5-7D23-B687-68F3C2DAC537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Classification</a:t>
              </a:r>
              <a:endParaRPr lang="en-IN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2AD725C-2CCA-DFBF-A57C-74A9B6872EC9}"/>
                </a:ext>
              </a:extLst>
            </p:cNvPr>
            <p:cNvSpPr/>
            <p:nvPr/>
          </p:nvSpPr>
          <p:spPr>
            <a:xfrm>
              <a:off x="350520" y="3436620"/>
              <a:ext cx="1939834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Result Analysis</a:t>
              </a:r>
              <a:endParaRPr lang="en-IN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4629BCB-4F39-710B-E0B0-E3D845574C5F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FF6C705-585B-8D3D-C04D-8857E697E31A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F6B233-DE79-F7F2-B6EF-40D37C9A3033}"/>
                </a:ext>
              </a:extLst>
            </p:cNvPr>
            <p:cNvSpPr/>
            <p:nvPr/>
          </p:nvSpPr>
          <p:spPr>
            <a:xfrm>
              <a:off x="678180" y="4061460"/>
              <a:ext cx="1416387" cy="373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Final Output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ylinder 13">
              <a:extLst>
                <a:ext uri="{FF2B5EF4-FFF2-40B4-BE49-F238E27FC236}">
                  <a16:creationId xmlns:a16="http://schemas.microsoft.com/office/drawing/2014/main" id="{98C91315-A80F-46C6-AF72-76C85554FE67}"/>
                </a:ext>
              </a:extLst>
            </p:cNvPr>
            <p:cNvSpPr/>
            <p:nvPr/>
          </p:nvSpPr>
          <p:spPr>
            <a:xfrm>
              <a:off x="441960" y="0"/>
              <a:ext cx="1611397" cy="510540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Brain MRI data</a:t>
              </a:r>
              <a:endParaRPr lang="en-IN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C3B3606-8F0D-000E-AACD-B1370D706BAA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73D073F-EE8B-D3A0-65D8-014DC090F365}"/>
              </a:ext>
            </a:extLst>
          </p:cNvPr>
          <p:cNvSpPr txBox="1"/>
          <p:nvPr/>
        </p:nvSpPr>
        <p:spPr>
          <a:xfrm>
            <a:off x="987954" y="3291830"/>
            <a:ext cx="62483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Fig. 1: Workflow of the Proposed Model</a:t>
            </a:r>
          </a:p>
          <a:p>
            <a:pPr algn="ctr"/>
            <a:r>
              <a:rPr lang="en-US" sz="1200" dirty="0"/>
              <a:t>[Example Figure for Reference]</a:t>
            </a:r>
            <a:endParaRPr lang="en-IN" sz="1200" dirty="0"/>
          </a:p>
          <a:p>
            <a:pPr algn="ctr"/>
            <a:endParaRPr lang="en-IN" sz="12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43E4BBDC-705D-70BD-B44B-2CB34D1FDF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860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366134" y="1085939"/>
            <a:ext cx="8504804" cy="3141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Module 1: Time-Series Forecasting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Algorithms: LSTM (primary), GRU, ARIMA/SARIMA (baseline)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Purpose: Predict future CO₂ emission levels and energy consumption from historical data.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Metrics: MAE, RMSE, MAPE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Module 2: Anomaly Detection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Algorithms: Isolation Forest (implemented), One-Class SVM, Deep Autoencoders (planned)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Purpose: Identify abnormal energy spikes and unusual emission patterns.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Metrics: Precision, Recall, F1-Score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Module 3: Optimization Modelling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Methods: Multiple Linear Regression, Gradient Boosting Regressor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Advanced: Reinforcement Learning-based policy optimization (planned)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 panose="020B0502020104020203"/>
              </a:rPr>
              <a:t>Purpose: Estimate optimal energy usage and simulate emission reduction strategies.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187624" y="3795886"/>
            <a:ext cx="604867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Fig. 2: Schematic Model Diagram of the Proposed Model</a:t>
            </a:r>
          </a:p>
          <a:p>
            <a:pPr algn="ctr"/>
            <a:r>
              <a:rPr lang="en-US" sz="1100" dirty="0"/>
              <a:t>[Example Figure for Reference]</a:t>
            </a:r>
            <a:endParaRPr lang="en-IN" sz="1100" dirty="0"/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3" y="555526"/>
            <a:ext cx="7376711" cy="35983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Dataset &amp; Tools/Technologies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Dataset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Combined Cycle Power Plant Dataset (UCI Machine Learning Repository)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Features: Ambient Temperature (AT), Exhaust Vacuum (V), Ambient Pressure (AP), Relative Humidity (RH), Net Electrical Output (PE)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CO₂ emissions derived: CO₂ = PE × 0.82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Gill Sans MT" panose="020B0502020104020203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Tools &amp; Technologies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Language: Python 3.x | Environment: Jupyter Notebook / VS Code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Data Processing: NumPy, Pandas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Visualization: Matplotlib, Seaborn, Plotly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ML Models: Scikit-learn (Linear Regression, Gradient Boosting, Isolation Forest)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Deep Learning: TensorFlow / PyTorch (LSTM, Autoencoders — planned)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Dashboard: Streamlit (planned deployment)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Database: SQLite / PostgreSQL (optional storage)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Progress in Implementation Plan &amp; Methodology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Completed Tasks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Data preprocessing completed — handled missing values, normalized features, split into train/test sets.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CO₂ emission values derived from power output using the emission factor: CO₂ = PE × 0.82.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Linear Regression model implemented and evaluated (RMSE ≈ 4.47).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Gradient Boosting Regressor implemented and compared — outperforms Linear Regression (RMSE ≈ 3.80).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Anomaly Detection using Isolation Forest completed — 192 anomalies flagged (~2% of data).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Visualization of anomalies and emission trends completed using Matplotlib.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Gill Sans MT" panose="020B0502020104020203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Preliminary Results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Linear Regression RMSE: 4.47 | Gradient Boosting RMSE: 3.80 (14.9% improvement)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Anomaly Detection: 192 anomalies detected out of ~9,500 records (~2% abnormal behavior identified)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Model comparison performed — Gradient Boosting selected as primary prediction model going forward.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Future Work Plan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Short-Term (Next 4 Weeks)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Implement LSTM model for time-series forecasting of CO₂ emissions and energy consumption.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Evaluate LSTM against Gradient Boosting using MAE, RMSE, and MAPE metrics.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Begin development of the Streamlit-based sustainability analytics dashboard.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Gill Sans MT" panose="020B0502020104020203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Mid-Term (Weeks 5–8)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Integrate all three modules (forecasting, anomaly detection, optimization) into unified Verdify framework.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Add One-Class SVM and Autoencoder-based anomaly detection for comparison.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Implement carbon reduction simulation feature in the dashboard.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endParaRPr lang="en-US" sz="1800" b="1" spc="-1" dirty="0">
              <a:solidFill>
                <a:srgbClr val="0070C0"/>
              </a:solidFill>
              <a:latin typeface="Gill Sans MT" panose="020B0502020104020203"/>
            </a:endParaRP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 panose="020B0502020104020203"/>
              </a:rPr>
              <a:t>Long-Term (Final Phase)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Optimize model performance through hyperparameter tuning and cross-validation.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Explore Reinforcement Learning-based policy optimization module.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Integrate real-time monitoring capabilities and finalize ESG compliance reporting module.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Complete documentation, testing, and final project report submission.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12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fTitle"/>
          <p:cNvSpPr txBox="1"/>
          <p:nvPr/>
        </p:nvSpPr>
        <p:spPr>
          <a:xfrm>
            <a:off x="480212" y="206010"/>
            <a:ext cx="8361928" cy="62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anose="02020603050405020304" pitchFamily="18" charset="0"/>
              </a:rPr>
              <a:t>References</a:t>
            </a:r>
          </a:p>
        </p:txBody>
      </p:sp>
      <p:sp>
        <p:nvSpPr>
          <p:cNvPr id="202" name="RefContent"/>
          <p:cNvSpPr txBox="1"/>
          <p:nvPr/>
        </p:nvSpPr>
        <p:spPr>
          <a:xfrm>
            <a:off x="428596" y="920000"/>
            <a:ext cx="8504804" cy="38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97500"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lang="en-US" sz="1200" b="1" spc="-1" dirty="0">
                <a:solidFill>
                  <a:srgbClr val="0070C0"/>
                </a:solidFill>
                <a:latin typeface="Arial Narrow" panose="020B0606020202030204" pitchFamily="34" charset="0"/>
              </a:rPr>
              <a:t>[1] </a:t>
            </a: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UCI Machine Learning Repository. Combined Cycle Power Plant Dataset. Available: https://archive.ics.uci.edu/ml/datasets/Combined+Cycle+Power+Plant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200" b="1" spc="-1" dirty="0">
                <a:solidFill>
                  <a:srgbClr val="0070C0"/>
                </a:solidFill>
                <a:latin typeface="Arial Narrow" panose="020B0606020202030204" pitchFamily="34" charset="0"/>
              </a:rPr>
              <a:t>[2] </a:t>
            </a: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Tufekci, P. (2014). Prediction of full load electrical power output of a combined cycle power plant using ML methods. Int. J. Electrical Power &amp; Energy Systems, 60, 126-140.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200" b="1" spc="-1" dirty="0">
                <a:solidFill>
                  <a:srgbClr val="0070C0"/>
                </a:solidFill>
                <a:latin typeface="Arial Narrow" panose="020B0606020202030204" pitchFamily="34" charset="0"/>
              </a:rPr>
              <a:t>[3] </a:t>
            </a: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Liu, F. T., Ting, K. M., &amp; Zhou, Z. H. (2008). Isolation Forest. Proceedings of IEEE ICDM, pp. 413-422.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200" b="1" spc="-1" dirty="0">
                <a:solidFill>
                  <a:srgbClr val="0070C0"/>
                </a:solidFill>
                <a:latin typeface="Arial Narrow" panose="020B0606020202030204" pitchFamily="34" charset="0"/>
              </a:rPr>
              <a:t>[4] </a:t>
            </a: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Hochreiter, S., &amp; Schmidhuber, J. (1997). Long Short-Term Memory. Neural Computation, 9(8), 1735-1780.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200" b="1" spc="-1" dirty="0">
                <a:solidFill>
                  <a:srgbClr val="0070C0"/>
                </a:solidFill>
                <a:latin typeface="Arial Narrow" panose="020B0606020202030204" pitchFamily="34" charset="0"/>
              </a:rPr>
              <a:t>[5] </a:t>
            </a: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Chen, T., &amp; Guestrin, C. (2016). XGBoost: A Scalable Tree Boosting System. ACM SIGKDD, pp. 785-794.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200" b="1" spc="-1" dirty="0">
                <a:solidFill>
                  <a:srgbClr val="0070C0"/>
                </a:solidFill>
                <a:latin typeface="Arial Narrow" panose="020B0606020202030204" pitchFamily="34" charset="0"/>
              </a:rPr>
              <a:t>[6] </a:t>
            </a:r>
            <a:r>
              <a:rPr lang="en-US" sz="1200" b="0" spc="-1" dirty="0">
                <a:solidFill>
                  <a:srgbClr val="000000"/>
                </a:solidFill>
                <a:latin typeface="Arial Narrow" panose="020B0606020202030204" pitchFamily="34" charset="0"/>
              </a:rPr>
              <a:t>Pedregosa et al. (2011). Scikit-learn: Machine Learning in Python. JMLR 12, pp. 2825-2830. Available: https://scikit-learn.org</a:t>
            </a:r>
          </a:p>
        </p:txBody>
      </p:sp>
      <p:sp>
        <p:nvSpPr>
          <p:cNvPr id="203" name="PageNum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A1B2C3D4-E5F6-4A5B-8C9D-0E1F2A3B4C5D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  <a:t>13</a:t>
            </a:fld>
            <a:endParaRPr lang="en-IN" sz="1200" b="0" strike="noStrike" spc="-1">
              <a:solidFill>
                <a:srgbClr val="B5A989"/>
              </a:solidFill>
              <a:latin typeface="Gill Sans MT" panose="020B05020201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 panose="020B0502020104020203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 panose="020B0502020104020203"/>
              </a:rPr>
              <a:t>14</a:t>
            </a:fld>
            <a:endParaRPr lang="en-IN" sz="1200" b="0" strike="noStrike" spc="-1">
              <a:latin typeface="Times New Roman" panose="02020603050405020304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16</TotalTime>
  <Words>1579</Words>
  <Application>Microsoft Office PowerPoint</Application>
  <PresentationFormat>On-screen Show (16:9)</PresentationFormat>
  <Paragraphs>216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14</vt:i4>
      </vt:variant>
    </vt:vector>
  </HeadingPairs>
  <TitlesOfParts>
    <vt:vector size="37" baseType="lpstr">
      <vt:lpstr>Anaheim</vt:lpstr>
      <vt:lpstr>Aptos</vt:lpstr>
      <vt:lpstr>Arial</vt:lpstr>
      <vt:lpstr>Arial Narrow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SAHU;SASWAT DASH</dc:creator>
  <cp:lastModifiedBy>Saswat Dash</cp:lastModifiedBy>
  <cp:revision>67</cp:revision>
  <dcterms:created xsi:type="dcterms:W3CDTF">2023-04-24T05:50:00Z</dcterms:created>
  <dcterms:modified xsi:type="dcterms:W3CDTF">2026-04-06T22:11:51Z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  <property fmtid="{D5CDD505-2E9C-101B-9397-08002B2CF9AE}" pid="12" name="KSOProductBuildVer">
    <vt:lpwstr>1033-12.1.0.25242</vt:lpwstr>
  </property>
  <property fmtid="{D5CDD505-2E9C-101B-9397-08002B2CF9AE}" pid="13" name="ICV">
    <vt:lpwstr>3644199B348A41548FFC367295B60C13_13</vt:lpwstr>
  </property>
</Properties>
</file>