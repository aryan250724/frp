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736" r:id="rId2"/>
    <p:sldMasterId id="2147483739" r:id="rId3"/>
    <p:sldMasterId id="2147483754" r:id="rId4"/>
    <p:sldMasterId id="2147483767" r:id="rId5"/>
    <p:sldMasterId id="2147483769" r:id="rId6"/>
  </p:sldMasterIdLst>
  <p:notesMasterIdLst>
    <p:notesMasterId r:id="rId20"/>
  </p:notesMasterIdLst>
  <p:sldIdLst>
    <p:sldId id="256" r:id="rId7"/>
    <p:sldId id="257" r:id="rId8"/>
    <p:sldId id="258" r:id="rId9"/>
    <p:sldId id="265" r:id="rId10"/>
    <p:sldId id="259" r:id="rId11"/>
    <p:sldId id="267" r:id="rId12"/>
    <p:sldId id="273" r:id="rId13"/>
    <p:sldId id="274" r:id="rId14"/>
    <p:sldId id="269" r:id="rId15"/>
    <p:sldId id="270" r:id="rId16"/>
    <p:sldId id="271" r:id="rId17"/>
    <p:sldId id="264" r:id="rId18"/>
    <p:sldId id="263" r:id="rId19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0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91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>
              <a:alphaModFix/>
            </a:blip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>
              <a:alphaModFix/>
            </a:blip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/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3A74B8-EF64-4578-9A72-98E8B3A3A1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3261B-DE37-4912-AF5A-8E51A0F03535}"/>
              </a:ext>
            </a:extLst>
          </p:cNvPr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A7C3A-9E97-4FD9-9258-90A2A701B48E}"/>
              </a:ext>
            </a:extLst>
          </p:cNvPr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F1A8A-E8B1-4F56-8E05-BF95BE98DE5B}"/>
              </a:ext>
            </a:extLst>
          </p:cNvPr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25003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2617-F728-4345-9B63-C0B5F79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6419-4C10-4573-9A34-A9E44962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271FF-57D3-46C2-B896-B112906A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3037F-AC0A-45F2-9BE0-E2564EE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7351E8-B1DF-47F2-BEAE-438019E48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1709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200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4314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791504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385813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14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41658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85483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1009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hyperlink" Target="http://www.presentationgo.com/" TargetMode="Externa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ABCEAB2-FBDF-46DE-8DD3-07B5136284FA}"/>
              </a:ext>
            </a:extLst>
          </p:cNvPr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E6ECE6-8137-4F41-A6F0-DC9623651236}"/>
              </a:ext>
            </a:extLst>
          </p:cNvPr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12DC555-B169-430C-85D9-8F1BCAF97743}"/>
              </a:ext>
            </a:extLst>
          </p:cNvPr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A3E62-9D04-42CF-968F-5F6E2C124DB8}"/>
              </a:ext>
            </a:extLst>
          </p:cNvPr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B356D5FC-88A6-4DDA-911C-2AF338BB6929}"/>
              </a:ext>
            </a:extLst>
          </p:cNvPr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DEBD7C-F558-4D4F-8E49-929D46967D92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9E32DC-7D1B-4F0A-8A94-9976C83581E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F23B40-7BE1-43AB-84F8-8890236A6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9346" y="267494"/>
            <a:ext cx="8749718" cy="1800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FINAL YEAR RESEARCH PROJECT </a:t>
            </a:r>
          </a:p>
          <a:p>
            <a:pPr>
              <a:lnSpc>
                <a:spcPct val="100000"/>
              </a:lnSpc>
            </a:pP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R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eview</a:t>
            </a: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-1 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Presentation</a:t>
            </a:r>
            <a:br>
              <a:rPr lang="en-US" sz="1100" dirty="0">
                <a:latin typeface="Bebas Neue"/>
              </a:rPr>
            </a:br>
            <a:r>
              <a:rPr lang="en-US" sz="1100" dirty="0">
                <a:latin typeface="Bebas Neue"/>
              </a:rPr>
              <a:t>			</a:t>
            </a:r>
            <a:r>
              <a:rPr lang="en-US" sz="2800" b="0" strike="noStrike" spc="-1" dirty="0">
                <a:solidFill>
                  <a:srgbClr val="572314"/>
                </a:solidFill>
                <a:latin typeface="Bebas Neue"/>
              </a:rPr>
              <a:t>Proactive Carbon Intelligence: ML-Based Emission Forecasting and Anomaly Detection</a:t>
            </a:r>
            <a:endParaRPr lang="en-US" sz="2800" b="0" strike="noStrike" spc="-1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8612" y="2283718"/>
            <a:ext cx="6400440" cy="647730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 fontScale="94000"/>
          </a:bodyPr>
          <a:lstStyle/>
          <a:p>
            <a:pPr marL="27360">
              <a:lnSpc>
                <a:spcPct val="100000"/>
              </a:lnSpc>
              <a:spcBef>
                <a:spcPts val="601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/>
              </a:rPr>
              <a:t>Supervised By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:</a:t>
            </a:r>
            <a:r>
              <a:rPr lang="en-IN" sz="1700" spc="-1" dirty="0">
                <a:latin typeface="Arial"/>
              </a:rPr>
              <a:t> 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Prof. /</a:t>
            </a:r>
            <a:r>
              <a:rPr lang="en-IN" sz="1700" b="1" strike="noStrike" spc="-1" dirty="0" err="1">
                <a:solidFill>
                  <a:srgbClr val="361309"/>
                </a:solidFill>
                <a:latin typeface="Gill Sans MT"/>
              </a:rPr>
              <a:t>Dr.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 </a:t>
            </a:r>
            <a:endParaRPr lang="en-IN" sz="1700" b="0" strike="noStrike" spc="-1" dirty="0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5536" y="2859782"/>
            <a:ext cx="3672408" cy="18144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Group No.: 13 | Section: 29</a:t>
            </a:r>
            <a:endParaRPr lang="en-IN" sz="1400" b="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0000"/>
                </a:solidFill>
                <a:latin typeface="Gill Sans MT"/>
              </a:rPr>
              <a:t>Name of the Student(s) with Regd. No.:</a:t>
            </a:r>
            <a:endParaRPr lang="en-IN" sz="1300" b="0" strike="noStrike" spc="-1" dirty="0">
              <a:latin typeface="Gill Sans MT"/>
            </a:endParaRPr>
          </a:p>
          <a:p>
            <a:pPr>
              <a:lnSpc>
                <a:spcPct val="100000"/>
              </a:lnSpc>
            </a:pPr>
            <a:r>
              <a:rPr lang="en-IN" sz="1200" b="0" spc="-1" dirty="0">
                <a:solidFill>
                  <a:srgbClr val="000000"/>
                </a:solidFill>
                <a:latin typeface="Gill Sans MT"/>
              </a:rPr>
              <a:t>Aryan Sharma – 2241019403</a:t>
            </a:r>
          </a:p>
          <a:p>
            <a:pPr>
              <a:lnSpc>
                <a:spcPct val="100000"/>
              </a:lnSpc>
            </a:pPr>
            <a:r>
              <a:rPr lang="en-IN" sz="1200" b="0" spc="-1" dirty="0">
                <a:solidFill>
                  <a:srgbClr val="000000"/>
                </a:solidFill>
                <a:latin typeface="Gill Sans MT"/>
              </a:rPr>
              <a:t>Anand Kumar Sharma – 2241019398</a:t>
            </a:r>
          </a:p>
          <a:p>
            <a:pPr>
              <a:lnSpc>
                <a:spcPct val="100000"/>
              </a:lnSpc>
            </a:pPr>
            <a:r>
              <a:rPr lang="en-IN" sz="1200" b="0" spc="-1" dirty="0">
                <a:solidFill>
                  <a:srgbClr val="000000"/>
                </a:solidFill>
                <a:latin typeface="Gill Sans MT"/>
              </a:rPr>
              <a:t>Saswat Dash – 2241004182</a:t>
            </a:r>
          </a:p>
          <a:p>
            <a:pPr>
              <a:lnSpc>
                <a:spcPct val="100000"/>
              </a:lnSpc>
            </a:pPr>
            <a:r>
              <a:rPr lang="en-IN" sz="1200" b="0" spc="-1" dirty="0">
                <a:solidFill>
                  <a:srgbClr val="000000"/>
                </a:solidFill>
                <a:latin typeface="Gill Sans MT"/>
              </a:rPr>
              <a:t>Suyash Kumar Anand – 2241001074</a:t>
            </a: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292080" y="3944752"/>
            <a:ext cx="3728904" cy="104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/>
              </a:rPr>
              <a:t>Faculty of Engineering &amp; Technology (ITER)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Bhubaneswar, Odisha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2" cstate="print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571472" y="147424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Presentation Outline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23528" y="843558"/>
            <a:ext cx="8496944" cy="388549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Problem Statement &amp; Motivations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Problem Statement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Motivations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Literature Review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400" spc="-1" dirty="0">
                <a:solidFill>
                  <a:srgbClr val="000000"/>
                </a:solidFill>
                <a:latin typeface="Gill Sans MT"/>
              </a:rPr>
              <a:t>Existing Solutions &amp; Limitations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Proposed Methodology &amp; </a:t>
            </a:r>
            <a:r>
              <a:rPr lang="en-US" sz="1600" spc="-1">
                <a:latin typeface="Gill Sans MT"/>
              </a:rPr>
              <a:t>Approach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>
                <a:latin typeface="Gill Sans MT"/>
              </a:rPr>
              <a:t>Key </a:t>
            </a:r>
            <a:r>
              <a:rPr lang="en-IN" sz="1600" spc="-1" dirty="0">
                <a:latin typeface="Gill Sans MT"/>
              </a:rPr>
              <a:t>Components/Modules &amp; Algorithms Used</a:t>
            </a:r>
            <a:endParaRPr lang="en-US" sz="16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Dataset &amp; Tools/Technologies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Work Done So Far (Implementation Progress)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Preliminary Results (if any)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Future Work Plan</a:t>
            </a:r>
            <a:endParaRPr lang="en-US" sz="1600" spc="-1" dirty="0">
              <a:latin typeface="Gill Sans MT"/>
            </a:endParaRPr>
          </a:p>
          <a:p>
            <a:pPr marL="3657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da-DK" sz="1600" spc="-1" dirty="0">
                <a:latin typeface="Gill Sans MT"/>
              </a:rPr>
              <a:t>References</a:t>
            </a:r>
            <a:endParaRPr lang="en-US" sz="1600" spc="-1" dirty="0">
              <a:latin typeface="Gill Sans MT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4" cstate="print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Industrial Carbon Emission Challenge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Industrial facilities are among the largest contributors to global greenhouse gas emissions due to inefficient energy utilization.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Most industries rely on retrospective monitoring systems that detect emission spikes and energy waste only after they occur, leading to financial losses and environmental damage.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Core Problem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Absence of predictive sustainability analytics causes delayed decision-making.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Need for a proactive, intelligent system that forecasts energy consumption, detects anomalous emission patterns, and provides optimization strategies.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No integrated platform currently combines forecasting, anomaly detection, and a user-friendly sustainability dashboard.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Motivations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Why This Matters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Increasing global concern over carbon emissions and climate change mandates proactive monitoring solutions.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Industrial sectors contribute ~37% of global CO₂ emissions; even marginal efficiency gains have large-scale environmental impact.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ESG (Environmental, Social, Governance) compliance is becoming mandatory for industries worldwide.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Opportunity for AI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Machine learning can identify hidden patterns in energy data that human analysts miss.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Predictive systems enable preventive action before emission spikes, reducing operational costs and penalties.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Lack of intelligent, integrated monitoring systems creates a clear research and industry gap.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Project Goal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Develop Verdify — a data-driven AI framework for industrial energy waste reduction and emission optimization.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480212" y="206010"/>
            <a:ext cx="7800000" cy="62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</a:rPr>
              <a:t>Literature Review</a:t>
            </a:r>
          </a:p>
        </p:txBody>
      </p:sp>
      <p:sp>
        <p:nvSpPr>
          <p:cNvPr id="110" name="TopSection"/>
          <p:cNvSpPr txBox="1"/>
          <p:nvPr/>
        </p:nvSpPr>
        <p:spPr>
          <a:xfrm>
            <a:off x="428596" y="900000"/>
            <a:ext cx="8504804" cy="175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95000"/>
          </a:bodyPr>
          <a:lstStyle/>
          <a:p>
            <a:pPr>
              <a:lnSpc>
                <a:spcPts val="1100"/>
              </a:lnSpc>
              <a:spcBef>
                <a:spcPts val="0"/>
              </a:spcBef>
            </a:pPr>
            <a:r>
              <a:rPr lang="en-US" sz="1700" b="1" spc="-1" dirty="0">
                <a:solidFill>
                  <a:srgbClr val="0070C0"/>
                </a:solidFill>
                <a:latin typeface="Gill Sans MT"/>
              </a:rPr>
              <a:t>Key Findings from Existing Literature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450" b="0" spc="-1" dirty="0">
                <a:solidFill>
                  <a:srgbClr val="000000"/>
                </a:solidFill>
                <a:latin typeface="Gill Sans MT"/>
              </a:rPr>
              <a:t>ML widely used for energy prediction: LSTM, GRU, and ARIMA/SARIMA show strong time-series forecasting performance (MAE, RMSE metrics).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450" b="0" spc="-1" dirty="0">
                <a:solidFill>
                  <a:srgbClr val="000000"/>
                </a:solidFill>
                <a:latin typeface="Gill Sans MT"/>
              </a:rPr>
              <a:t>Isolation Forest &amp; One-Class SVM are established methods for anomaly detection in industrial sensor data.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450" b="0" spc="-1" dirty="0">
                <a:solidFill>
                  <a:srgbClr val="000000"/>
                </a:solidFill>
                <a:latin typeface="Gill Sans MT"/>
              </a:rPr>
              <a:t>Ensemble models (Gradient Boosting, Random Forest) improve prediction accuracy over single models.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450" b="0" spc="-1" dirty="0">
                <a:solidFill>
                  <a:srgbClr val="000000"/>
                </a:solidFill>
                <a:latin typeface="Gill Sans MT"/>
              </a:rPr>
              <a:t>CNN-based deep learning achieves high accuracy but is computationally expensive and requires large datasets.</a:t>
            </a:r>
          </a:p>
        </p:txBody>
      </p:sp>
      <p:sp>
        <p:nvSpPr>
          <p:cNvPr id="111" name="BottomSection"/>
          <p:cNvSpPr txBox="1"/>
          <p:nvPr/>
        </p:nvSpPr>
        <p:spPr>
          <a:xfrm>
            <a:off x="428596" y="2720000"/>
            <a:ext cx="8504804" cy="187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95000"/>
          </a:bodyPr>
          <a:lstStyle/>
          <a:p>
            <a:pPr>
              <a:lnSpc>
                <a:spcPts val="1100"/>
              </a:lnSpc>
              <a:spcBef>
                <a:spcPts val="0"/>
              </a:spcBef>
            </a:pPr>
            <a:r>
              <a:rPr lang="en-US" sz="1700" b="1" spc="-1" dirty="0">
                <a:solidFill>
                  <a:srgbClr val="0070C0"/>
                </a:solidFill>
                <a:latin typeface="Gill Sans MT"/>
              </a:rPr>
              <a:t>Representative Works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450" b="0" spc="-1" dirty="0">
                <a:solidFill>
                  <a:srgbClr val="000000"/>
                </a:solidFill>
                <a:latin typeface="Gill Sans MT"/>
              </a:rPr>
              <a:t>Smith et al. (2022): Random Forest on UCI data — Accuracy 92–95%, F1: 0.91. Stable but limited scalability.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450" b="0" spc="-1" dirty="0">
                <a:solidFill>
                  <a:srgbClr val="000000"/>
                </a:solidFill>
                <a:latin typeface="Gill Sans MT"/>
              </a:rPr>
              <a:t>Kumar &amp; Patel (2023): CNN on custom dataset — Accuracy 90–93%, F1: 0.89. Superior feature extraction, high compute cost.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450" b="0" spc="-1" dirty="0">
                <a:solidFill>
                  <a:srgbClr val="000000"/>
                </a:solidFill>
                <a:latin typeface="Gill Sans MT"/>
              </a:rPr>
              <a:t>Roy et al. (2020): Hybrid CNN-LSTM model for sequential pattern learning in industrial settings.</a:t>
            </a:r>
          </a:p>
          <a:p>
            <a:pPr marL="285750">
              <a:lnSpc>
                <a:spcPts val="1100"/>
              </a:lnSpc>
              <a:spcBef>
                <a:spcPts val="120"/>
              </a:spcBef>
              <a:buChar char="•"/>
            </a:pPr>
            <a:r>
              <a:rPr lang="en-US" sz="1450" b="0" spc="-1" dirty="0">
                <a:solidFill>
                  <a:srgbClr val="000000"/>
                </a:solidFill>
                <a:latin typeface="Gill Sans MT"/>
              </a:rPr>
              <a:t>Patel &amp; Shah (2022): Transfer learning (VGG16) adapted for sensor-based classification tasks.</a:t>
            </a:r>
          </a:p>
        </p:txBody>
      </p:sp>
      <p:sp>
        <p:nvSpPr>
          <p:cNvPr id="112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200" b="0" strike="noStrike" spc="-1">
              <a:solidFill>
                <a:srgbClr val="B5A989"/>
              </a:solidFill>
              <a:latin typeface="Gill Sans MT"/>
            </a:endParaRPr>
          </a:p>
        </p:txBody>
      </p:sp>
      <p:pic>
        <p:nvPicPr>
          <p:cNvPr id="113" name="Picture 2"/>
          <p:cNvPicPr/>
          <p:nvPr/>
        </p:nvPicPr>
        <p:blipFill>
          <a:blip r:embed="rId2" cstate="print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Limitations of Existing Systems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Most existing systems are reactive — they detect anomalies and emission spikes only after they occur.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Limited integration of forecasting and anomaly detection in a single cohesive framework.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Absence of user-friendly dashboards for real-time visualization and decision support.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Existing research lacks optimization modules that recommend actionable emission reduction strategies.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Our Improvements (Verdify)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Predictive + Proactive: LSTM forecasts future emissions before they occur, enabling early intervention.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Integrated Framework: Forecasting, anomaly detection, and optimization combined in one system.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User-Friendly Dashboard: Streamlit-based visualization with alerts, simulations, and insights.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Optimization Module: Regression and Gradient Boosting models recommend efficient operational parameters.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46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59BD-49C5-EEF4-69EB-420E3CAA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D4CD70E-5418-1FC5-1EDB-192C2A5FA04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FBA454CB-B805-4DE9-8F6E-EEE582D197EF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System Architecture — Verdify Framework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Input: Structured industrial dataset — Temperature (AT), Vacuum (V), Pressure (AP), Humidity (RH), Power Output (PE).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CO₂ Estimation: Derived using emission factor — CO₂ = PE × 0.82 (kg/kWh).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Power Prediction Module: Linear Regression &amp; Gradient Boosting models trained on environmental features.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Anomaly Detection Module: Isolation Forest computes residuals and flags abnormal emission events.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Visualization Module: Plotted anomalies and trend charts for decision support.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Workflow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500" b="0" spc="-1" dirty="0">
                <a:solidFill>
                  <a:srgbClr val="000000"/>
                </a:solidFill>
                <a:latin typeface="Gill Sans MT"/>
              </a:rPr>
              <a:t>Environmental Data (AT, V, AP, RH) → Power Prediction Model → CO₂ Estimation → Residual Calculation → Anomaly Detection (Isolation Forest) → Dashboard Visualization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C56AA8D6-1D20-8753-1AD2-B484C9B1149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B44850F-263A-20A8-CC64-6043759B95A1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29F60B-728B-DD7D-BD8D-2910CE6EA277}"/>
              </a:ext>
            </a:extLst>
          </p:cNvPr>
          <p:cNvSpPr txBox="1"/>
          <p:nvPr/>
        </p:nvSpPr>
        <p:spPr>
          <a:xfrm>
            <a:off x="1043608" y="3291830"/>
            <a:ext cx="6408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Fig. 1: Workflow of the Proposed Model</a:t>
            </a:r>
          </a:p>
          <a:p>
            <a:pPr algn="ctr"/>
            <a:r>
              <a:rPr lang="en-US" sz="1200" dirty="0"/>
              <a:t>[Example Figure for Reference]</a:t>
            </a:r>
            <a:endParaRPr lang="en-IN" sz="1200" dirty="0"/>
          </a:p>
          <a:p>
            <a:pPr algn="ctr"/>
            <a:endParaRPr lang="en-IN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6B9CB9-2511-C3FB-11AE-0FFB9CDC8FA8}"/>
              </a:ext>
            </a:extLst>
          </p:cNvPr>
          <p:cNvGrpSpPr/>
          <p:nvPr/>
        </p:nvGrpSpPr>
        <p:grpSpPr>
          <a:xfrm>
            <a:off x="2627784" y="1043010"/>
            <a:ext cx="3201516" cy="3014550"/>
            <a:chOff x="0" y="0"/>
            <a:chExt cx="2514600" cy="443484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F7272CB-7476-5B14-854B-1D7608D1CDC0}"/>
                </a:ext>
              </a:extLst>
            </p:cNvPr>
            <p:cNvCxnSpPr/>
            <p:nvPr/>
          </p:nvCxnSpPr>
          <p:spPr>
            <a:xfrm>
              <a:off x="1177290" y="510540"/>
              <a:ext cx="10264" cy="205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772D20-DB9D-E69B-493A-A8266514884D}"/>
                </a:ext>
              </a:extLst>
            </p:cNvPr>
            <p:cNvSpPr/>
            <p:nvPr/>
          </p:nvSpPr>
          <p:spPr>
            <a:xfrm>
              <a:off x="198120" y="731520"/>
              <a:ext cx="1950098" cy="4343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Preprocessing 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D7C50C1-D952-CD5D-0680-765D9C47E40E}"/>
                </a:ext>
              </a:extLst>
            </p:cNvPr>
            <p:cNvCxnSpPr/>
            <p:nvPr/>
          </p:nvCxnSpPr>
          <p:spPr>
            <a:xfrm>
              <a:off x="1203960" y="1165860"/>
              <a:ext cx="10264" cy="1752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0E9CDF-2D7C-1B2C-A0A7-6279B9DBB75D}"/>
                </a:ext>
              </a:extLst>
            </p:cNvPr>
            <p:cNvSpPr/>
            <p:nvPr/>
          </p:nvSpPr>
          <p:spPr>
            <a:xfrm>
              <a:off x="22860" y="1363980"/>
              <a:ext cx="2411963" cy="5562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CNN-Based Feature Extraction &amp; Selection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6D5F61-7309-BF8B-56A9-7E2826C7DD9D}"/>
                </a:ext>
              </a:extLst>
            </p:cNvPr>
            <p:cNvCxnSpPr/>
            <p:nvPr/>
          </p:nvCxnSpPr>
          <p:spPr>
            <a:xfrm>
              <a:off x="1219200" y="193548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C9B21D-983A-8BE7-5B2C-8585A04E80BD}"/>
                </a:ext>
              </a:extLst>
            </p:cNvPr>
            <p:cNvSpPr/>
            <p:nvPr/>
          </p:nvSpPr>
          <p:spPr>
            <a:xfrm>
              <a:off x="114300" y="2164080"/>
              <a:ext cx="2206690" cy="3352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Attention Mechanism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E1E82C-7D60-8D04-B086-B47D23CCCFD1}"/>
                </a:ext>
              </a:extLst>
            </p:cNvPr>
            <p:cNvSpPr/>
            <p:nvPr/>
          </p:nvSpPr>
          <p:spPr>
            <a:xfrm>
              <a:off x="0" y="2750820"/>
              <a:ext cx="2514600" cy="4114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Classification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BC1DD5-0797-1B1E-7D09-951F72079796}"/>
                </a:ext>
              </a:extLst>
            </p:cNvPr>
            <p:cNvSpPr/>
            <p:nvPr/>
          </p:nvSpPr>
          <p:spPr>
            <a:xfrm>
              <a:off x="350520" y="3436620"/>
              <a:ext cx="1939834" cy="4953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Result Analysis</a:t>
              </a:r>
              <a:endParaRPr lang="en-IN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53534CB-B2E2-BE8C-B403-91FAECEFCDDC}"/>
                </a:ext>
              </a:extLst>
            </p:cNvPr>
            <p:cNvCxnSpPr/>
            <p:nvPr/>
          </p:nvCxnSpPr>
          <p:spPr>
            <a:xfrm>
              <a:off x="1264920" y="387096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77AB0F-D310-B047-3868-C7F9ED0E658F}"/>
                </a:ext>
              </a:extLst>
            </p:cNvPr>
            <p:cNvCxnSpPr/>
            <p:nvPr/>
          </p:nvCxnSpPr>
          <p:spPr>
            <a:xfrm>
              <a:off x="1264920" y="2499360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4566CC-89DE-90D6-A4EC-C497D14CB0CF}"/>
                </a:ext>
              </a:extLst>
            </p:cNvPr>
            <p:cNvSpPr/>
            <p:nvPr/>
          </p:nvSpPr>
          <p:spPr>
            <a:xfrm>
              <a:off x="678180" y="4061460"/>
              <a:ext cx="1416387" cy="373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Final Output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E58BCF28-3C2B-98BF-431E-7C5E007E8CF0}"/>
                </a:ext>
              </a:extLst>
            </p:cNvPr>
            <p:cNvSpPr/>
            <p:nvPr/>
          </p:nvSpPr>
          <p:spPr>
            <a:xfrm>
              <a:off x="441960" y="0"/>
              <a:ext cx="1611397" cy="510540"/>
            </a:xfrm>
            <a:prstGeom prst="ca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Brain MRI data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5F28BA-4275-CDC1-3EC5-0255E8533204}"/>
                </a:ext>
              </a:extLst>
            </p:cNvPr>
            <p:cNvCxnSpPr/>
            <p:nvPr/>
          </p:nvCxnSpPr>
          <p:spPr>
            <a:xfrm flipH="1">
              <a:off x="1272540" y="3169920"/>
              <a:ext cx="15240" cy="266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578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0F32-27DF-3A98-D9C2-8C41DFB7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4C9E006D-5246-58F6-E588-2C0922871ECD}"/>
              </a:ext>
            </a:extLst>
          </p:cNvPr>
          <p:cNvSpPr txBox="1"/>
          <p:nvPr/>
        </p:nvSpPr>
        <p:spPr>
          <a:xfrm>
            <a:off x="480212" y="-168483"/>
            <a:ext cx="8361928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		 cont.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CD44DE5-A20F-E89E-BB16-07701DC74DB1}"/>
              </a:ext>
            </a:extLst>
          </p:cNvPr>
          <p:cNvSpPr txBox="1"/>
          <p:nvPr/>
        </p:nvSpPr>
        <p:spPr>
          <a:xfrm>
            <a:off x="366134" y="1085939"/>
            <a:ext cx="8504804" cy="31419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Module 1: Time-Series Forecasting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Algorithms: LSTM (primary), GRU, ARIMA/SARIMA (baseline)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Purpose: Predict future CO₂ emission levels and energy consumption from historical data.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Metrics: MAE, RMSE, MAPE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Module 2: Anomaly Detection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Algorithms: Isolation Forest (implemented), One-Class SVM, Deep Autoencoders (planned)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Purpose: Identify abnormal energy spikes and unusual emission patterns.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Metrics: Precision, Recall, F1-Score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Module 3: Optimization Modelling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Methods: Multiple Linear Regression, Gradient Boosting Regressor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Advanced: Reinforcement Learning-based policy optimization (planned)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Purpose: Estimate optimal energy usage and simulate emission reduction strategies.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056D3CEB-3778-A612-250E-7B618D9549FB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B98E295F-AD54-F063-80D6-38BC54B3526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D7DDE-F70E-732B-339C-80805CED93D3}"/>
              </a:ext>
            </a:extLst>
          </p:cNvPr>
          <p:cNvSpPr txBox="1"/>
          <p:nvPr/>
        </p:nvSpPr>
        <p:spPr>
          <a:xfrm>
            <a:off x="1187624" y="3795886"/>
            <a:ext cx="604867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Fig. 2: Schematic Model Diagram of the Proposed Model</a:t>
            </a:r>
          </a:p>
          <a:p>
            <a:pPr algn="ctr"/>
            <a:r>
              <a:rPr lang="en-US" sz="1100" dirty="0"/>
              <a:t>[Example Figure for Reference]</a:t>
            </a:r>
            <a:endParaRPr lang="en-IN" sz="1100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D9FA1-9175-995D-6D8D-B91FB155B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63" y="555526"/>
            <a:ext cx="7376711" cy="359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2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2329-4F88-B0E0-0252-E2D8B8F4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3FEF313C-EFC9-A169-AF9C-C3BF6A2847B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Dataset &amp; Tools/Technologies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C071F398-B6BD-852A-B8C2-E99AE7A3C9C0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Dataset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Combined Cycle Power Plant Dataset (UCI Machine Learning Repository)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Features: Ambient Temperature (AT), Exhaust Vacuum (V), Ambient Pressure (AP), Relative Humidity (RH), Net Electrical Output (PE)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CO₂ emissions derived: CO₂ = PE × 0.82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Tools &amp; Technologies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Language: Python 3.x | Environment: Jupyter Notebook / VS Code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Data Processing: NumPy, Pandas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Visualization: Matplotlib, Seaborn, Plotly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ML Models: Scikit-learn (Linear Regression, Gradient Boosting, Isolation Forest)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Deep Learning: TensorFlow / PyTorch (LSTM, Autoencoders — planned)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Dashboard: Streamlit (planned deployment)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Database: SQLite / PostgreSQL (optional storage)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CD427EE-1FA4-386B-72E7-D515FE14BCF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0E8E06F2-3FBE-0B4E-96F3-8E0E72FFBFB9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261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Progress in Implementation Plan &amp; Methodology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Completed Tasks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Data preprocessing completed — handled missing values, normalized features, split into train/test sets.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CO₂ emission values derived from power output using the emission factor: CO₂ = PE × 0.82.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Linear Regression model implemented and evaluated (RMSE ≈ 4.47).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Gradient Boosting Regressor implemented and compared — outperforms Linear Regression (RMSE ≈ 3.80).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Anomaly Detection using Isolation Forest completed — 192 anomalies flagged (~2% of data).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Visualization of anomalies and emission trends completed using Matplotlib.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Preliminary Results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Linear Regression RMSE: 4.47 | Gradient Boosting RMSE: 3.80 (14.9% improvement)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Anomaly Detection: 192 anomalies detected out of ~9,500 records (~2% abnormal behavior identified)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Model comparison performed — Gradient Boosting selected as primary prediction model going forward.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728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Future Work Plan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Short-Term (Next 4 Weeks)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Implement LSTM model for time-series forecasting of CO₂ emissions and energy consumption.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Evaluate LSTM against Gradient Boosting using MAE, RMSE, and MAPE metrics.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Begin development of the Streamlit-based sustainability analytics dashboard.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Mid-Term (Weeks 5–8)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Integrate all three modules (forecasting, anomaly detection, optimization) into unified Verdify framework.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Add One-Class SVM and Autoencoder-based anomaly detection for comparison.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Implement carbon reduction simulation feature in the dashboard.</a:t>
            </a:r>
          </a:p>
          <a:p>
            <a:pPr>
              <a:lnSpc>
                <a:spcPts val="1200"/>
              </a:lnSpc>
              <a:spcBef>
                <a:spcPts val="300"/>
              </a:spcBef>
            </a:pPr>
            <a:r>
              <a:rPr lang="en-US" sz="1800" b="1" spc="-1" dirty="0">
                <a:solidFill>
                  <a:srgbClr val="0070C0"/>
                </a:solidFill>
                <a:latin typeface="Gill Sans MT"/>
              </a:rPr>
              <a:t>Long-Term (Final Phase)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Optimize model performance through hyperparameter tuning and cross-validation.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Explore Reinforcement Learning-based policy optimization module.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Integrate real-time monitoring capabilities and finalize ESG compliance reporting module.</a:t>
            </a:r>
          </a:p>
          <a:p>
            <a:pPr marL="342900">
              <a:lnSpc>
                <a:spcPts val="1200"/>
              </a:lnSpc>
              <a:spcBef>
                <a:spcPts val="150"/>
              </a:spcBef>
              <a:buChar char="•"/>
            </a:pPr>
            <a:r>
              <a:rPr lang="en-US" sz="1600" b="0" spc="-1" dirty="0">
                <a:solidFill>
                  <a:srgbClr val="000000"/>
                </a:solidFill>
                <a:latin typeface="Gill Sans MT"/>
              </a:rPr>
              <a:t>Complete documentation, testing, and final project report submission.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404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fTitle"/>
          <p:cNvSpPr txBox="1"/>
          <p:nvPr/>
        </p:nvSpPr>
        <p:spPr>
          <a:xfrm>
            <a:off x="480212" y="206010"/>
            <a:ext cx="8361928" cy="62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</a:rPr>
              <a:t>References</a:t>
            </a:r>
          </a:p>
        </p:txBody>
      </p:sp>
      <p:sp>
        <p:nvSpPr>
          <p:cNvPr id="202" name="RefContent"/>
          <p:cNvSpPr txBox="1"/>
          <p:nvPr/>
        </p:nvSpPr>
        <p:spPr>
          <a:xfrm>
            <a:off x="428596" y="920000"/>
            <a:ext cx="8504804" cy="38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rmAutofit fontScale="90000"/>
          </a:bodyPr>
          <a:lstStyle/>
          <a:p>
            <a:pPr>
              <a:lnSpc>
                <a:spcPts val="1100"/>
              </a:lnSpc>
              <a:spcBef>
                <a:spcPts val="0"/>
              </a:spcBef>
            </a:pPr>
            <a:r>
              <a:rPr lang="en-US" sz="1350" b="1" spc="-1" dirty="0">
                <a:solidFill>
                  <a:srgbClr val="0070C0"/>
                </a:solidFill>
                <a:latin typeface="Gill Sans MT"/>
              </a:rPr>
              <a:t>[1] </a:t>
            </a:r>
            <a:r>
              <a:rPr lang="en-US" sz="1350" b="0" spc="-1" dirty="0">
                <a:solidFill>
                  <a:srgbClr val="000000"/>
                </a:solidFill>
                <a:latin typeface="Gill Sans MT"/>
              </a:rPr>
              <a:t>UCI Machine Learning Repository. Combined Cycle Power Plant Dataset. Available: https://archive.ics.uci.edu/ml/datasets/Combined+Cycle+Power+Plant</a:t>
            </a:r>
          </a:p>
          <a:p>
            <a:pPr>
              <a:lnSpc>
                <a:spcPts val="1100"/>
              </a:lnSpc>
              <a:spcBef>
                <a:spcPts val="180"/>
              </a:spcBef>
            </a:pPr>
            <a:r>
              <a:rPr lang="en-US" sz="1350" b="1" spc="-1" dirty="0">
                <a:solidFill>
                  <a:srgbClr val="0070C0"/>
                </a:solidFill>
                <a:latin typeface="Gill Sans MT"/>
              </a:rPr>
              <a:t>[2] </a:t>
            </a:r>
            <a:r>
              <a:rPr lang="en-US" sz="1350" b="0" spc="-1" dirty="0">
                <a:solidFill>
                  <a:srgbClr val="000000"/>
                </a:solidFill>
                <a:latin typeface="Gill Sans MT"/>
              </a:rPr>
              <a:t>Tufekci, P. (2014). Prediction of full load electrical power output of a combined cycle power plant using ML methods. Int. J. Electrical Power &amp; Energy Systems, 60, 126-140.</a:t>
            </a:r>
          </a:p>
          <a:p>
            <a:pPr>
              <a:lnSpc>
                <a:spcPts val="1100"/>
              </a:lnSpc>
              <a:spcBef>
                <a:spcPts val="180"/>
              </a:spcBef>
            </a:pPr>
            <a:r>
              <a:rPr lang="en-US" sz="1350" b="1" spc="-1" dirty="0">
                <a:solidFill>
                  <a:srgbClr val="0070C0"/>
                </a:solidFill>
                <a:latin typeface="Gill Sans MT"/>
              </a:rPr>
              <a:t>[3] </a:t>
            </a:r>
            <a:r>
              <a:rPr lang="en-US" sz="1350" b="0" spc="-1" dirty="0">
                <a:solidFill>
                  <a:srgbClr val="000000"/>
                </a:solidFill>
                <a:latin typeface="Gill Sans MT"/>
              </a:rPr>
              <a:t>Liu, F. T., Ting, K. M., &amp; Zhou, Z. H. (2008). Isolation Forest. Proceedings of IEEE ICDM, pp. 413-422.</a:t>
            </a:r>
          </a:p>
          <a:p>
            <a:pPr>
              <a:lnSpc>
                <a:spcPts val="1100"/>
              </a:lnSpc>
              <a:spcBef>
                <a:spcPts val="180"/>
              </a:spcBef>
            </a:pPr>
            <a:r>
              <a:rPr lang="en-US" sz="1350" b="1" spc="-1" dirty="0">
                <a:solidFill>
                  <a:srgbClr val="0070C0"/>
                </a:solidFill>
                <a:latin typeface="Gill Sans MT"/>
              </a:rPr>
              <a:t>[4] </a:t>
            </a:r>
            <a:r>
              <a:rPr lang="en-US" sz="1350" b="0" spc="-1" dirty="0">
                <a:solidFill>
                  <a:srgbClr val="000000"/>
                </a:solidFill>
                <a:latin typeface="Gill Sans MT"/>
              </a:rPr>
              <a:t>Hochreiter, S., &amp; Schmidhuber, J. (1997). Long Short-Term Memory. Neural Computation, 9(8), 1735-1780.</a:t>
            </a:r>
          </a:p>
          <a:p>
            <a:pPr>
              <a:lnSpc>
                <a:spcPts val="1100"/>
              </a:lnSpc>
              <a:spcBef>
                <a:spcPts val="180"/>
              </a:spcBef>
            </a:pPr>
            <a:r>
              <a:rPr lang="en-US" sz="1350" b="1" spc="-1" dirty="0">
                <a:solidFill>
                  <a:srgbClr val="0070C0"/>
                </a:solidFill>
                <a:latin typeface="Gill Sans MT"/>
              </a:rPr>
              <a:t>[5] </a:t>
            </a:r>
            <a:r>
              <a:rPr lang="en-US" sz="1350" b="0" spc="-1" dirty="0">
                <a:solidFill>
                  <a:srgbClr val="000000"/>
                </a:solidFill>
                <a:latin typeface="Gill Sans MT"/>
              </a:rPr>
              <a:t>Chen, T., &amp; Guestrin, C. (2016). XGBoost: A Scalable Tree Boosting System. ACM SIGKDD, pp. 785-794.</a:t>
            </a:r>
          </a:p>
          <a:p>
            <a:pPr>
              <a:lnSpc>
                <a:spcPts val="1100"/>
              </a:lnSpc>
              <a:spcBef>
                <a:spcPts val="180"/>
              </a:spcBef>
            </a:pPr>
            <a:r>
              <a:rPr lang="en-US" sz="1350" b="1" spc="-1" dirty="0">
                <a:solidFill>
                  <a:srgbClr val="0070C0"/>
                </a:solidFill>
                <a:latin typeface="Gill Sans MT"/>
              </a:rPr>
              <a:t>[6] </a:t>
            </a:r>
            <a:r>
              <a:rPr lang="en-US" sz="1350" b="0" spc="-1" dirty="0">
                <a:solidFill>
                  <a:srgbClr val="000000"/>
                </a:solidFill>
                <a:latin typeface="Gill Sans MT"/>
              </a:rPr>
              <a:t>Pedregosa et al. (2011). Scikit-learn: Machine Learning in Python. JMLR 12, pp. 2825-2830. Available: https://scikit-learn.org</a:t>
            </a:r>
          </a:p>
        </p:txBody>
      </p:sp>
      <p:sp>
        <p:nvSpPr>
          <p:cNvPr id="203" name="PageNum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A1B2C3D4-E5F6-4A5B-8C9D-0E1F2A3B4C5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t>12</a:t>
            </a:fld>
            <a:endParaRPr lang="en-IN" sz="1200" b="0" strike="noStrike" spc="-1">
              <a:solidFill>
                <a:srgbClr val="B5A989"/>
              </a:solidFill>
              <a:latin typeface="Gill Sans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78B1EDBC-4A95-4303-94E3-B14C14EBEA23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8E044A80-51C6-4156-9123-ACBB6F9A67F4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634</TotalTime>
  <Words>1582</Words>
  <Application>Microsoft Office PowerPoint</Application>
  <PresentationFormat>On-screen Show (16:9)</PresentationFormat>
  <Paragraphs>174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36" baseType="lpstr">
      <vt:lpstr>Anaheim</vt:lpstr>
      <vt:lpstr>Aptos</vt:lpstr>
      <vt:lpstr>Arial</vt:lpstr>
      <vt:lpstr>Bahnschrift SemiBold</vt:lpstr>
      <vt:lpstr>Bebas Neue</vt:lpstr>
      <vt:lpstr>Calibri</vt:lpstr>
      <vt:lpstr>Calibri Light</vt:lpstr>
      <vt:lpstr>Cardo</vt:lpstr>
      <vt:lpstr>Gill Sans MT</vt:lpstr>
      <vt:lpstr>Josefin Sans</vt:lpstr>
      <vt:lpstr>Open Sans</vt:lpstr>
      <vt:lpstr>Proxima Nova</vt:lpstr>
      <vt:lpstr>Proxima Nova Semibold</vt:lpstr>
      <vt:lpstr>Quicksand</vt:lpstr>
      <vt:lpstr>Roboto Condensed Light</vt:lpstr>
      <vt:lpstr>Times New Roman</vt:lpstr>
      <vt:lpstr>Wingdings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SAHU;SASWAT DASH</dc:creator>
  <cp:lastModifiedBy>Saswat Dash</cp:lastModifiedBy>
  <cp:revision>64</cp:revision>
  <dcterms:created xsi:type="dcterms:W3CDTF">2023-04-24T05:50:18Z</dcterms:created>
  <dcterms:modified xsi:type="dcterms:W3CDTF">2026-04-01T21:52:31Z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